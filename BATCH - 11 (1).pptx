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7" r:id="rId6"/>
    <p:sldId id="261" r:id="rId7"/>
    <p:sldId id="262" r:id="rId8"/>
    <p:sldId id="263" r:id="rId9"/>
    <p:sldId id="268" r:id="rId10"/>
    <p:sldId id="264" r:id="rId11"/>
    <p:sldId id="274" r:id="rId12"/>
    <p:sldId id="276" r:id="rId13"/>
    <p:sldId id="277" r:id="rId14"/>
    <p:sldId id="278" r:id="rId15"/>
    <p:sldId id="279" r:id="rId16"/>
    <p:sldId id="280" r:id="rId17"/>
    <p:sldId id="275" r:id="rId18"/>
    <p:sldId id="281" r:id="rId19"/>
    <p:sldId id="28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DAA922-ACD3-49A2-8699-A995E34EF708}"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9B03-E491-43A4-A438-070B601ACC2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112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DAA922-ACD3-49A2-8699-A995E34EF708}"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9B03-E491-43A4-A438-070B601ACC23}" type="slidenum">
              <a:rPr lang="en-IN" smtClean="0"/>
              <a:t>‹#›</a:t>
            </a:fld>
            <a:endParaRPr lang="en-IN"/>
          </a:p>
        </p:txBody>
      </p:sp>
    </p:spTree>
    <p:extLst>
      <p:ext uri="{BB962C8B-B14F-4D97-AF65-F5344CB8AC3E}">
        <p14:creationId xmlns:p14="http://schemas.microsoft.com/office/powerpoint/2010/main" val="288781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DAA922-ACD3-49A2-8699-A995E34EF708}"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9B03-E491-43A4-A438-070B601ACC2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129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DAA922-ACD3-49A2-8699-A995E34EF708}"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E29B03-E491-43A4-A438-070B601ACC23}" type="slidenum">
              <a:rPr lang="en-IN" smtClean="0"/>
              <a:t>‹#›</a:t>
            </a:fld>
            <a:endParaRPr lang="en-IN"/>
          </a:p>
        </p:txBody>
      </p:sp>
    </p:spTree>
    <p:extLst>
      <p:ext uri="{BB962C8B-B14F-4D97-AF65-F5344CB8AC3E}">
        <p14:creationId xmlns:p14="http://schemas.microsoft.com/office/powerpoint/2010/main" val="3606707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DAA922-ACD3-49A2-8699-A995E34EF708}" type="datetimeFigureOut">
              <a:rPr lang="en-IN" smtClean="0"/>
              <a:t>22-04-2026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2E29B03-E491-43A4-A438-070B601ACC23}" type="slidenum">
              <a:rPr lang="en-IN" smtClean="0"/>
              <a:t>‹#›</a:t>
            </a:fld>
            <a:endParaRPr lang="en-IN"/>
          </a:p>
        </p:txBody>
      </p:sp>
    </p:spTree>
    <p:extLst>
      <p:ext uri="{BB962C8B-B14F-4D97-AF65-F5344CB8AC3E}">
        <p14:creationId xmlns:p14="http://schemas.microsoft.com/office/powerpoint/2010/main" val="85811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DAA922-ACD3-49A2-8699-A995E34EF708}" type="datetimeFigureOut">
              <a:rPr lang="en-IN" smtClean="0"/>
              <a:t>22-04-2026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2E29B03-E491-43A4-A438-070B601ACC23}" type="slidenum">
              <a:rPr lang="en-IN" smtClean="0"/>
              <a:t>‹#›</a:t>
            </a:fld>
            <a:endParaRPr lang="en-IN"/>
          </a:p>
        </p:txBody>
      </p:sp>
    </p:spTree>
    <p:extLst>
      <p:ext uri="{BB962C8B-B14F-4D97-AF65-F5344CB8AC3E}">
        <p14:creationId xmlns:p14="http://schemas.microsoft.com/office/powerpoint/2010/main" val="2183997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DAA922-ACD3-49A2-8699-A995E34EF708}" type="datetimeFigureOut">
              <a:rPr lang="en-IN" smtClean="0"/>
              <a:t>22-04-2026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22E29B03-E491-43A4-A438-070B601ACC23}" type="slidenum">
              <a:rPr lang="en-IN" smtClean="0"/>
              <a:t>‹#›</a:t>
            </a:fld>
            <a:endParaRPr lang="en-IN"/>
          </a:p>
        </p:txBody>
      </p:sp>
    </p:spTree>
    <p:extLst>
      <p:ext uri="{BB962C8B-B14F-4D97-AF65-F5344CB8AC3E}">
        <p14:creationId xmlns:p14="http://schemas.microsoft.com/office/powerpoint/2010/main" val="1660701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ADAA922-ACD3-49A2-8699-A995E34EF708}" type="datetimeFigureOut">
              <a:rPr lang="en-IN" smtClean="0"/>
              <a:t>22-04-2026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E29B03-E491-43A4-A438-070B601ACC23}" type="slidenum">
              <a:rPr lang="en-IN" smtClean="0"/>
              <a:t>‹#›</a:t>
            </a:fld>
            <a:endParaRPr lang="en-IN"/>
          </a:p>
        </p:txBody>
      </p:sp>
    </p:spTree>
    <p:extLst>
      <p:ext uri="{BB962C8B-B14F-4D97-AF65-F5344CB8AC3E}">
        <p14:creationId xmlns:p14="http://schemas.microsoft.com/office/powerpoint/2010/main" val="3693492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DAA922-ACD3-49A2-8699-A995E34EF708}"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2E29B03-E491-43A4-A438-070B601ACC23}" type="slidenum">
              <a:rPr lang="en-IN" smtClean="0"/>
              <a:t>‹#›</a:t>
            </a:fld>
            <a:endParaRPr lang="en-IN"/>
          </a:p>
        </p:txBody>
      </p:sp>
    </p:spTree>
    <p:extLst>
      <p:ext uri="{BB962C8B-B14F-4D97-AF65-F5344CB8AC3E}">
        <p14:creationId xmlns:p14="http://schemas.microsoft.com/office/powerpoint/2010/main" val="4239931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DAA922-ACD3-49A2-8699-A995E34EF708}"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9B03-E491-43A4-A438-070B601ACC23}" type="slidenum">
              <a:rPr lang="en-IN" smtClean="0"/>
              <a:t>‹#›</a:t>
            </a:fld>
            <a:endParaRPr lang="en-IN"/>
          </a:p>
        </p:txBody>
      </p:sp>
    </p:spTree>
    <p:extLst>
      <p:ext uri="{BB962C8B-B14F-4D97-AF65-F5344CB8AC3E}">
        <p14:creationId xmlns:p14="http://schemas.microsoft.com/office/powerpoint/2010/main" val="468490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DAA922-ACD3-49A2-8699-A995E34EF708}"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2E29B03-E491-43A4-A438-070B601ACC23}" type="slidenum">
              <a:rPr lang="en-IN" smtClean="0"/>
              <a:t>‹#›</a:t>
            </a:fld>
            <a:endParaRPr lang="en-IN"/>
          </a:p>
        </p:txBody>
      </p:sp>
    </p:spTree>
    <p:extLst>
      <p:ext uri="{BB962C8B-B14F-4D97-AF65-F5344CB8AC3E}">
        <p14:creationId xmlns:p14="http://schemas.microsoft.com/office/powerpoint/2010/main" val="113214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ADAA922-ACD3-49A2-8699-A995E34EF708}" type="datetimeFigureOut">
              <a:rPr lang="en-IN" smtClean="0"/>
              <a:t>22-04-2026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2E29B03-E491-43A4-A438-070B601ACC2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4602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CD83-D7A4-3385-DD59-97383F5D1C6F}"/>
              </a:ext>
            </a:extLst>
          </p:cNvPr>
          <p:cNvSpPr>
            <a:spLocks noGrp="1"/>
          </p:cNvSpPr>
          <p:nvPr>
            <p:ph type="title"/>
          </p:nvPr>
        </p:nvSpPr>
        <p:spPr>
          <a:xfrm>
            <a:off x="677176" y="1820522"/>
            <a:ext cx="11023600" cy="1450757"/>
          </a:xfrm>
        </p:spPr>
        <p:txBody>
          <a:bodyPr anchor="ctr" anchorCtr="0"/>
          <a:lstStyle/>
          <a:p>
            <a:pPr algn="ctr"/>
            <a:r>
              <a:rPr lang="en-US" altLang="en-US" dirty="0">
                <a:solidFill>
                  <a:schemeClr val="tx1">
                    <a:lumMod val="85000"/>
                    <a:lumOff val="15000"/>
                  </a:schemeClr>
                </a:solidFill>
                <a:sym typeface="+mn-ea"/>
              </a:rPr>
              <a:t>PHARMACY MANAGEMENT SYSTEM</a:t>
            </a:r>
            <a:endParaRPr lang="en-IN" dirty="0"/>
          </a:p>
        </p:txBody>
      </p:sp>
      <p:sp>
        <p:nvSpPr>
          <p:cNvPr id="4" name="TextBox 3">
            <a:extLst>
              <a:ext uri="{FF2B5EF4-FFF2-40B4-BE49-F238E27FC236}">
                <a16:creationId xmlns:a16="http://schemas.microsoft.com/office/drawing/2014/main" id="{78733933-0E8D-126D-0A0C-8524804E060A}"/>
              </a:ext>
            </a:extLst>
          </p:cNvPr>
          <p:cNvSpPr txBox="1"/>
          <p:nvPr/>
        </p:nvSpPr>
        <p:spPr>
          <a:xfrm>
            <a:off x="7589520" y="4267201"/>
            <a:ext cx="4602480" cy="1455014"/>
          </a:xfrm>
          <a:prstGeom prst="rect">
            <a:avLst/>
          </a:prstGeom>
          <a:noFill/>
        </p:spPr>
        <p:txBody>
          <a:bodyPr wrap="square" rtlCol="0">
            <a:spAutoFit/>
          </a:bodyPr>
          <a:lstStyle/>
          <a:p>
            <a:pPr>
              <a:lnSpc>
                <a:spcPct val="200000"/>
              </a:lnSpc>
            </a:pPr>
            <a:r>
              <a:rPr lang="en-IN" sz="2400" b="1" dirty="0"/>
              <a:t>GUIDED BY</a:t>
            </a:r>
          </a:p>
          <a:p>
            <a:pPr>
              <a:lnSpc>
                <a:spcPct val="200000"/>
              </a:lnSpc>
            </a:pPr>
            <a:r>
              <a:rPr lang="en-IN" sz="2400" dirty="0"/>
              <a:t>A.MALARMANNAN M.E</a:t>
            </a:r>
          </a:p>
        </p:txBody>
      </p:sp>
      <p:sp>
        <p:nvSpPr>
          <p:cNvPr id="5" name="TextBox 4">
            <a:extLst>
              <a:ext uri="{FF2B5EF4-FFF2-40B4-BE49-F238E27FC236}">
                <a16:creationId xmlns:a16="http://schemas.microsoft.com/office/drawing/2014/main" id="{C01A0871-ED41-A072-95E5-5B0206F23C27}"/>
              </a:ext>
            </a:extLst>
          </p:cNvPr>
          <p:cNvSpPr txBox="1"/>
          <p:nvPr/>
        </p:nvSpPr>
        <p:spPr>
          <a:xfrm>
            <a:off x="782320" y="3540760"/>
            <a:ext cx="4998720" cy="2459071"/>
          </a:xfrm>
          <a:prstGeom prst="rect">
            <a:avLst/>
          </a:prstGeom>
          <a:noFill/>
        </p:spPr>
        <p:txBody>
          <a:bodyPr wrap="square" rtlCol="0">
            <a:spAutoFit/>
          </a:bodyPr>
          <a:lstStyle/>
          <a:p>
            <a:pPr>
              <a:lnSpc>
                <a:spcPct val="200000"/>
              </a:lnSpc>
            </a:pPr>
            <a:r>
              <a:rPr lang="en-US" altLang="en-IN" sz="2000" dirty="0">
                <a:sym typeface="+mn-ea"/>
              </a:rPr>
              <a:t>JANANI S</a:t>
            </a:r>
            <a:r>
              <a:rPr lang="en-IN" sz="2000" dirty="0">
                <a:sym typeface="+mn-ea"/>
              </a:rPr>
              <a:t> (</a:t>
            </a:r>
            <a:r>
              <a:rPr lang="en-US" altLang="en-IN" sz="2000" dirty="0">
                <a:sym typeface="+mn-ea"/>
              </a:rPr>
              <a:t>2403811720522022</a:t>
            </a:r>
            <a:r>
              <a:rPr lang="en-IN" sz="2000" dirty="0">
                <a:sym typeface="+mn-ea"/>
              </a:rPr>
              <a:t>)</a:t>
            </a:r>
            <a:endParaRPr lang="en-IN" sz="2000" dirty="0"/>
          </a:p>
          <a:p>
            <a:pPr>
              <a:lnSpc>
                <a:spcPct val="200000"/>
              </a:lnSpc>
            </a:pPr>
            <a:r>
              <a:rPr lang="en-US" altLang="en-US" sz="2000" dirty="0">
                <a:sym typeface="+mn-ea"/>
              </a:rPr>
              <a:t>JESINTHA A</a:t>
            </a:r>
            <a:r>
              <a:rPr lang="en-IN" sz="2000" dirty="0">
                <a:sym typeface="+mn-ea"/>
              </a:rPr>
              <a:t> (</a:t>
            </a:r>
            <a:r>
              <a:rPr lang="en-US" altLang="en-IN" sz="2000" dirty="0">
                <a:sym typeface="+mn-ea"/>
              </a:rPr>
              <a:t>2403811720522024</a:t>
            </a:r>
            <a:r>
              <a:rPr lang="en-IN" sz="2000" dirty="0">
                <a:sym typeface="+mn-ea"/>
              </a:rPr>
              <a:t>)</a:t>
            </a:r>
            <a:endParaRPr lang="en-IN" sz="2000" dirty="0"/>
          </a:p>
          <a:p>
            <a:pPr>
              <a:lnSpc>
                <a:spcPct val="200000"/>
              </a:lnSpc>
            </a:pPr>
            <a:r>
              <a:rPr lang="en-US" altLang="en-US" sz="2000" dirty="0">
                <a:sym typeface="+mn-ea"/>
              </a:rPr>
              <a:t>LATHIKA C</a:t>
            </a:r>
            <a:r>
              <a:rPr lang="en-IN" sz="2000" dirty="0">
                <a:sym typeface="+mn-ea"/>
              </a:rPr>
              <a:t> (</a:t>
            </a:r>
            <a:r>
              <a:rPr lang="en-US" altLang="en-IN" sz="2000" dirty="0">
                <a:sym typeface="+mn-ea"/>
              </a:rPr>
              <a:t>2403811720522027</a:t>
            </a:r>
            <a:r>
              <a:rPr lang="en-IN" sz="2000" dirty="0">
                <a:sym typeface="+mn-ea"/>
              </a:rPr>
              <a:t>)</a:t>
            </a:r>
            <a:endParaRPr lang="en-IN" sz="2000" dirty="0"/>
          </a:p>
          <a:p>
            <a:pPr>
              <a:lnSpc>
                <a:spcPct val="200000"/>
              </a:lnSpc>
            </a:pPr>
            <a:r>
              <a:rPr lang="en-US" altLang="en-US" sz="2000" dirty="0">
                <a:sym typeface="+mn-ea"/>
              </a:rPr>
              <a:t>MADHUBALA S</a:t>
            </a:r>
            <a:r>
              <a:rPr lang="en-IN" sz="2000" dirty="0">
                <a:sym typeface="+mn-ea"/>
              </a:rPr>
              <a:t> (</a:t>
            </a:r>
            <a:r>
              <a:rPr lang="en-US" altLang="en-IN" sz="2000" dirty="0">
                <a:sym typeface="+mn-ea"/>
              </a:rPr>
              <a:t>2403811720522029</a:t>
            </a:r>
            <a:r>
              <a:rPr lang="en-IN" sz="2000" dirty="0">
                <a:sym typeface="+mn-ea"/>
              </a:rPr>
              <a:t>)</a:t>
            </a:r>
            <a:endParaRPr lang="en-IN" sz="2000" dirty="0"/>
          </a:p>
        </p:txBody>
      </p:sp>
      <p:sp>
        <p:nvSpPr>
          <p:cNvPr id="6" name="TextBox 5">
            <a:extLst>
              <a:ext uri="{FF2B5EF4-FFF2-40B4-BE49-F238E27FC236}">
                <a16:creationId xmlns:a16="http://schemas.microsoft.com/office/drawing/2014/main" id="{463C5BAF-60B4-ABCC-F41F-27A57942380D}"/>
              </a:ext>
            </a:extLst>
          </p:cNvPr>
          <p:cNvSpPr txBox="1"/>
          <p:nvPr/>
        </p:nvSpPr>
        <p:spPr>
          <a:xfrm>
            <a:off x="2204720" y="488837"/>
            <a:ext cx="6873240" cy="1200329"/>
          </a:xfrm>
          <a:prstGeom prst="rect">
            <a:avLst/>
          </a:prstGeom>
          <a:noFill/>
        </p:spPr>
        <p:txBody>
          <a:bodyPr wrap="square" rtlCol="0">
            <a:spAutoFit/>
          </a:bodyPr>
          <a:lstStyle/>
          <a:p>
            <a:pPr algn="ctr"/>
            <a:r>
              <a:rPr lang="en-IN" sz="3600" b="1" dirty="0"/>
              <a:t>K.RAMAKRISHNAN COLLEGE OF TECHNOLOGY</a:t>
            </a:r>
          </a:p>
        </p:txBody>
      </p:sp>
      <p:pic>
        <p:nvPicPr>
          <p:cNvPr id="8" name="Picture 7">
            <a:extLst>
              <a:ext uri="{FF2B5EF4-FFF2-40B4-BE49-F238E27FC236}">
                <a16:creationId xmlns:a16="http://schemas.microsoft.com/office/drawing/2014/main" id="{E45E0A94-6214-905F-A965-D9E56C84B9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859" y="57526"/>
            <a:ext cx="1262964" cy="1631640"/>
          </a:xfrm>
          <a:prstGeom prst="rect">
            <a:avLst/>
          </a:prstGeom>
        </p:spPr>
      </p:pic>
      <p:pic>
        <p:nvPicPr>
          <p:cNvPr id="10" name="Picture 9">
            <a:extLst>
              <a:ext uri="{FF2B5EF4-FFF2-40B4-BE49-F238E27FC236}">
                <a16:creationId xmlns:a16="http://schemas.microsoft.com/office/drawing/2014/main" id="{CAEF1096-AC42-3FEC-90B4-F14A58B328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4081" y="334501"/>
            <a:ext cx="1496695" cy="922382"/>
          </a:xfrm>
          <a:prstGeom prst="rect">
            <a:avLst/>
          </a:prstGeom>
        </p:spPr>
      </p:pic>
    </p:spTree>
    <p:extLst>
      <p:ext uri="{BB962C8B-B14F-4D97-AF65-F5344CB8AC3E}">
        <p14:creationId xmlns:p14="http://schemas.microsoft.com/office/powerpoint/2010/main" val="1372879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C109-7D47-B82A-F480-A2F3BBA7DE56}"/>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D3EC70AA-AC31-99A9-68D4-999BB58915C1}"/>
              </a:ext>
            </a:extLst>
          </p:cNvPr>
          <p:cNvSpPr>
            <a:spLocks noGrp="1"/>
          </p:cNvSpPr>
          <p:nvPr>
            <p:ph idx="1"/>
          </p:nvPr>
        </p:nvSpPr>
        <p:spPr/>
        <p:txBody>
          <a:bodyPr/>
          <a:lstStyle/>
          <a:p>
            <a:pPr>
              <a:lnSpc>
                <a:spcPct val="100000"/>
              </a:lnSpc>
              <a:buFont typeface="Wingdings" panose="05000000000000000000" charset="0"/>
              <a:buChar char="v"/>
            </a:pPr>
            <a:r>
              <a:rPr lang="en-US" altLang="en-US" dirty="0">
                <a:sym typeface="+mn-ea"/>
              </a:rPr>
              <a:t>Pharmacies manage large volumes of data on medicines, suppliers, prescriptions, and sales that require high accuracy.</a:t>
            </a:r>
            <a:endParaRPr lang="en-US" altLang="en-US" dirty="0"/>
          </a:p>
          <a:p>
            <a:pPr>
              <a:lnSpc>
                <a:spcPct val="100000"/>
              </a:lnSpc>
              <a:buFont typeface="Wingdings" panose="05000000000000000000" charset="0"/>
              <a:buChar char="v"/>
            </a:pPr>
            <a:r>
              <a:rPr lang="en-US" altLang="en-US" dirty="0">
                <a:sym typeface="+mn-ea"/>
              </a:rPr>
              <a:t>Manual record-keeping leads to stock mismatches and duplicate entries.</a:t>
            </a:r>
            <a:endParaRPr lang="en-US" altLang="en-US" dirty="0"/>
          </a:p>
          <a:p>
            <a:pPr>
              <a:lnSpc>
                <a:spcPct val="100000"/>
              </a:lnSpc>
              <a:buFont typeface="Wingdings" panose="05000000000000000000" charset="0"/>
              <a:buChar char="v"/>
            </a:pPr>
            <a:r>
              <a:rPr lang="en-US" altLang="en-US" dirty="0">
                <a:sym typeface="+mn-ea"/>
              </a:rPr>
              <a:t>Tracking medicine availability and expiry dates becomes difficult.</a:t>
            </a:r>
            <a:endParaRPr lang="en-US" altLang="en-US" dirty="0"/>
          </a:p>
          <a:p>
            <a:pPr>
              <a:lnSpc>
                <a:spcPct val="100000"/>
              </a:lnSpc>
              <a:buFont typeface="Wingdings" panose="05000000000000000000" charset="0"/>
              <a:buChar char="v"/>
            </a:pPr>
            <a:r>
              <a:rPr lang="en-US" altLang="en-US" dirty="0">
                <a:sym typeface="+mn-ea"/>
              </a:rPr>
              <a:t>Manual processes cause billing errors and poor supplier management.</a:t>
            </a:r>
            <a:endParaRPr lang="en-US" altLang="en-US" dirty="0"/>
          </a:p>
          <a:p>
            <a:pPr>
              <a:lnSpc>
                <a:spcPct val="100000"/>
              </a:lnSpc>
              <a:buFont typeface="Wingdings" panose="05000000000000000000" charset="0"/>
              <a:buChar char="v"/>
            </a:pPr>
            <a:r>
              <a:rPr lang="en-US" altLang="en-US" dirty="0">
                <a:sym typeface="+mn-ea"/>
              </a:rPr>
              <a:t>Inconsistent data can lead to financial loss and incorrect medicine distribution.</a:t>
            </a:r>
            <a:endParaRPr lang="en-US" altLang="en-US" dirty="0"/>
          </a:p>
          <a:p>
            <a:pPr>
              <a:lnSpc>
                <a:spcPct val="100000"/>
              </a:lnSpc>
              <a:buFont typeface="Wingdings" panose="05000000000000000000" charset="0"/>
              <a:buChar char="v"/>
            </a:pPr>
            <a:r>
              <a:rPr lang="en-US" altLang="en-US" dirty="0">
                <a:sym typeface="+mn-ea"/>
              </a:rPr>
              <a:t>A structured, normalized database system is therefore required.</a:t>
            </a:r>
            <a:endParaRPr lang="en-US" altLang="en-US" dirty="0"/>
          </a:p>
          <a:p>
            <a:pPr>
              <a:lnSpc>
                <a:spcPct val="100000"/>
              </a:lnSpc>
              <a:buFont typeface="Wingdings" panose="05000000000000000000" charset="0"/>
              <a:buChar char="v"/>
            </a:pPr>
            <a:r>
              <a:rPr lang="en-US" altLang="en-US" dirty="0">
                <a:sym typeface="+mn-ea"/>
              </a:rPr>
              <a:t>Such a system reduces redundancy, maintains consistency, and supports accurate decision-making.</a:t>
            </a:r>
            <a:endParaRPr lang="en-US" altLang="en-US" dirty="0"/>
          </a:p>
          <a:p>
            <a:endParaRPr lang="en-IN" dirty="0"/>
          </a:p>
        </p:txBody>
      </p:sp>
    </p:spTree>
    <p:extLst>
      <p:ext uri="{BB962C8B-B14F-4D97-AF65-F5344CB8AC3E}">
        <p14:creationId xmlns:p14="http://schemas.microsoft.com/office/powerpoint/2010/main" val="920878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891E1-0339-E87D-6CE3-7577DFF3E1CA}"/>
              </a:ext>
            </a:extLst>
          </p:cNvPr>
          <p:cNvSpPr>
            <a:spLocks noGrp="1"/>
          </p:cNvSpPr>
          <p:nvPr>
            <p:ph type="title"/>
          </p:nvPr>
        </p:nvSpPr>
        <p:spPr/>
        <p:txBody>
          <a:bodyPr/>
          <a:lstStyle/>
          <a:p>
            <a:r>
              <a:rPr lang="en-IN" dirty="0"/>
              <a:t>Objectives of the Project</a:t>
            </a:r>
          </a:p>
        </p:txBody>
      </p:sp>
      <p:sp>
        <p:nvSpPr>
          <p:cNvPr id="3" name="Content Placeholder 2">
            <a:extLst>
              <a:ext uri="{FF2B5EF4-FFF2-40B4-BE49-F238E27FC236}">
                <a16:creationId xmlns:a16="http://schemas.microsoft.com/office/drawing/2014/main" id="{3D87D44F-5B21-C128-AEE8-8CD91977D0A7}"/>
              </a:ext>
            </a:extLst>
          </p:cNvPr>
          <p:cNvSpPr>
            <a:spLocks noGrp="1"/>
          </p:cNvSpPr>
          <p:nvPr>
            <p:ph idx="1"/>
          </p:nvPr>
        </p:nvSpPr>
        <p:spPr/>
        <p:txBody>
          <a:bodyPr/>
          <a:lstStyle/>
          <a:p>
            <a:pPr>
              <a:lnSpc>
                <a:spcPct val="100000"/>
              </a:lnSpc>
              <a:buFont typeface="Wingdings" panose="05000000000000000000" charset="0"/>
              <a:buChar char="v"/>
            </a:pPr>
            <a:r>
              <a:rPr lang="en-US" altLang="en-US" dirty="0">
                <a:sym typeface="+mn-ea"/>
              </a:rPr>
              <a:t>To design and implement a structured, normalized database for a Pharmacy Management System.</a:t>
            </a:r>
            <a:endParaRPr lang="en-US" altLang="en-US" dirty="0"/>
          </a:p>
          <a:p>
            <a:pPr>
              <a:lnSpc>
                <a:spcPct val="100000"/>
              </a:lnSpc>
              <a:buFont typeface="Wingdings" panose="05000000000000000000" charset="0"/>
              <a:buChar char="v"/>
            </a:pPr>
            <a:r>
              <a:rPr lang="en-US" altLang="en-US" dirty="0">
                <a:sym typeface="+mn-ea"/>
              </a:rPr>
              <a:t>To efficiently manage medicine inventory, supplier details, prescriptions, and sales data.</a:t>
            </a:r>
            <a:endParaRPr lang="en-US" altLang="en-US" dirty="0"/>
          </a:p>
          <a:p>
            <a:pPr>
              <a:lnSpc>
                <a:spcPct val="100000"/>
              </a:lnSpc>
              <a:buFont typeface="Wingdings" panose="05000000000000000000" charset="0"/>
              <a:buChar char="v"/>
            </a:pPr>
            <a:r>
              <a:rPr lang="en-US" altLang="en-US" dirty="0">
                <a:sym typeface="+mn-ea"/>
              </a:rPr>
              <a:t>To eliminate data redundancy and ensure consistency and integrity using primary and foreign keys.</a:t>
            </a:r>
            <a:endParaRPr lang="en-US" altLang="en-US" dirty="0"/>
          </a:p>
          <a:p>
            <a:pPr>
              <a:lnSpc>
                <a:spcPct val="100000"/>
              </a:lnSpc>
              <a:buFont typeface="Wingdings" panose="05000000000000000000" charset="0"/>
              <a:buChar char="v"/>
            </a:pPr>
            <a:r>
              <a:rPr lang="en-US" altLang="en-US" dirty="0">
                <a:sym typeface="+mn-ea"/>
              </a:rPr>
              <a:t>To enable accurate stock tracking, expiry monitoring, and efficient billing.</a:t>
            </a:r>
            <a:endParaRPr lang="en-US" altLang="en-US" dirty="0"/>
          </a:p>
          <a:p>
            <a:pPr>
              <a:lnSpc>
                <a:spcPct val="100000"/>
              </a:lnSpc>
              <a:buFont typeface="Wingdings" panose="05000000000000000000" charset="0"/>
              <a:buChar char="v"/>
            </a:pPr>
            <a:r>
              <a:rPr lang="en-US" altLang="en-US" dirty="0">
                <a:sym typeface="+mn-ea"/>
              </a:rPr>
              <a:t>To organize data into well-related tables for better management.</a:t>
            </a:r>
            <a:endParaRPr lang="en-US" altLang="en-US" dirty="0"/>
          </a:p>
          <a:p>
            <a:pPr>
              <a:lnSpc>
                <a:spcPct val="100000"/>
              </a:lnSpc>
              <a:buFont typeface="Wingdings" panose="05000000000000000000" charset="0"/>
              <a:buChar char="v"/>
            </a:pPr>
            <a:r>
              <a:rPr lang="en-US" altLang="en-US" dirty="0">
                <a:sym typeface="+mn-ea"/>
              </a:rPr>
              <a:t>To improve operational efficiency, reduce manual errors, and allow faster information retrieval.</a:t>
            </a:r>
            <a:endParaRPr lang="en-IN" dirty="0"/>
          </a:p>
          <a:p>
            <a:endParaRPr lang="en-IN" dirty="0"/>
          </a:p>
        </p:txBody>
      </p:sp>
    </p:spTree>
    <p:extLst>
      <p:ext uri="{BB962C8B-B14F-4D97-AF65-F5344CB8AC3E}">
        <p14:creationId xmlns:p14="http://schemas.microsoft.com/office/powerpoint/2010/main" val="988179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976D6-FC6C-3F0C-EB32-F56B4E0F8FA7}"/>
              </a:ext>
            </a:extLst>
          </p:cNvPr>
          <p:cNvSpPr>
            <a:spLocks noGrp="1"/>
          </p:cNvSpPr>
          <p:nvPr>
            <p:ph type="title"/>
          </p:nvPr>
        </p:nvSpPr>
        <p:spPr/>
        <p:txBody>
          <a:bodyPr/>
          <a:lstStyle/>
          <a:p>
            <a:r>
              <a:rPr lang="en-IN" dirty="0"/>
              <a:t>System Requirements</a:t>
            </a:r>
          </a:p>
        </p:txBody>
      </p:sp>
      <p:sp>
        <p:nvSpPr>
          <p:cNvPr id="3" name="Content Placeholder 2">
            <a:extLst>
              <a:ext uri="{FF2B5EF4-FFF2-40B4-BE49-F238E27FC236}">
                <a16:creationId xmlns:a16="http://schemas.microsoft.com/office/drawing/2014/main" id="{10469741-7221-4F2D-0F2A-A1E63A2E1796}"/>
              </a:ext>
            </a:extLst>
          </p:cNvPr>
          <p:cNvSpPr>
            <a:spLocks noGrp="1"/>
          </p:cNvSpPr>
          <p:nvPr>
            <p:ph idx="1"/>
          </p:nvPr>
        </p:nvSpPr>
        <p:spPr/>
        <p:txBody>
          <a:bodyPr/>
          <a:lstStyle/>
          <a:p>
            <a:pPr>
              <a:lnSpc>
                <a:spcPct val="100000"/>
              </a:lnSpc>
              <a:buFont typeface="Wingdings" panose="05000000000000000000" charset="0"/>
              <a:buChar char="v"/>
            </a:pPr>
            <a:r>
              <a:rPr lang="en-US" altLang="en-US" dirty="0"/>
              <a:t>The system requires both hardware and software components for efficient operation.</a:t>
            </a:r>
          </a:p>
          <a:p>
            <a:pPr>
              <a:lnSpc>
                <a:spcPct val="100000"/>
              </a:lnSpc>
              <a:buFont typeface="Wingdings" panose="05000000000000000000" charset="0"/>
              <a:buChar char="v"/>
            </a:pPr>
            <a:r>
              <a:rPr lang="en-US" altLang="en-US" dirty="0"/>
              <a:t>A computer with adequate processing power, memory, and storage is needed to handle database tasks.</a:t>
            </a:r>
          </a:p>
          <a:p>
            <a:pPr>
              <a:lnSpc>
                <a:spcPct val="100000"/>
              </a:lnSpc>
              <a:buFont typeface="Wingdings" panose="05000000000000000000" charset="0"/>
              <a:buChar char="v"/>
            </a:pPr>
            <a:r>
              <a:rPr lang="en-US" altLang="en-US" dirty="0"/>
              <a:t>Software requirements include an operating system, a DBMS (e.g., MySQL or Oracle), and a user interface.</a:t>
            </a:r>
          </a:p>
          <a:p>
            <a:pPr>
              <a:lnSpc>
                <a:spcPct val="100000"/>
              </a:lnSpc>
              <a:buFont typeface="Wingdings" panose="05000000000000000000" charset="0"/>
              <a:buChar char="v"/>
            </a:pPr>
            <a:r>
              <a:rPr lang="en-US" altLang="en-US" dirty="0"/>
              <a:t>The system supports data entry, storage, retrieval, and report generation with reliability and security.</a:t>
            </a:r>
          </a:p>
          <a:p>
            <a:pPr>
              <a:lnSpc>
                <a:spcPct val="100000"/>
              </a:lnSpc>
              <a:buFont typeface="Wingdings" panose="05000000000000000000" charset="0"/>
              <a:buChar char="v"/>
            </a:pPr>
            <a:r>
              <a:rPr lang="en-US" altLang="en-US" dirty="0"/>
              <a:t>Basic input and output devices such as a keyboard, mouse, and printer are required for billing and documentation.</a:t>
            </a:r>
          </a:p>
          <a:p>
            <a:endParaRPr lang="en-IN" dirty="0"/>
          </a:p>
        </p:txBody>
      </p:sp>
    </p:spTree>
    <p:extLst>
      <p:ext uri="{BB962C8B-B14F-4D97-AF65-F5344CB8AC3E}">
        <p14:creationId xmlns:p14="http://schemas.microsoft.com/office/powerpoint/2010/main" val="1254608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E5DD8-1DD6-7163-2EC8-EC77F2507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96250-A4A2-A2E5-1B0E-D253F34DA35E}"/>
              </a:ext>
            </a:extLst>
          </p:cNvPr>
          <p:cNvSpPr>
            <a:spLocks noGrp="1"/>
          </p:cNvSpPr>
          <p:nvPr>
            <p:ph type="title"/>
          </p:nvPr>
        </p:nvSpPr>
        <p:spPr>
          <a:xfrm>
            <a:off x="457199" y="75642"/>
            <a:ext cx="9903823" cy="830859"/>
          </a:xfrm>
        </p:spPr>
        <p:txBody>
          <a:bodyPr/>
          <a:lstStyle/>
          <a:p>
            <a:r>
              <a:rPr lang="en-IN" dirty="0"/>
              <a:t>System Architecture</a:t>
            </a:r>
          </a:p>
        </p:txBody>
      </p:sp>
      <p:pic>
        <p:nvPicPr>
          <p:cNvPr id="4" name="Content Placeholder 3">
            <a:extLst>
              <a:ext uri="{FF2B5EF4-FFF2-40B4-BE49-F238E27FC236}">
                <a16:creationId xmlns:a16="http://schemas.microsoft.com/office/drawing/2014/main" id="{9F86FCA4-882D-AACC-1024-BC4AF754E14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9788" b="13312"/>
          <a:stretch>
            <a:fillRect/>
          </a:stretch>
        </p:blipFill>
        <p:spPr>
          <a:xfrm>
            <a:off x="3609571" y="906501"/>
            <a:ext cx="4674457" cy="5391988"/>
          </a:xfrm>
          <a:prstGeom prst="rect">
            <a:avLst/>
          </a:prstGeom>
        </p:spPr>
      </p:pic>
      <p:cxnSp>
        <p:nvCxnSpPr>
          <p:cNvPr id="5" name="Straight Connector 4">
            <a:extLst>
              <a:ext uri="{FF2B5EF4-FFF2-40B4-BE49-F238E27FC236}">
                <a16:creationId xmlns:a16="http://schemas.microsoft.com/office/drawing/2014/main" id="{CF454DAC-3A3B-C0B2-5EB3-40DD5124D5E5}"/>
              </a:ext>
            </a:extLst>
          </p:cNvPr>
          <p:cNvCxnSpPr>
            <a:cxnSpLocks/>
          </p:cNvCxnSpPr>
          <p:nvPr/>
        </p:nvCxnSpPr>
        <p:spPr>
          <a:xfrm>
            <a:off x="1077686" y="1741714"/>
            <a:ext cx="2797628"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23660892-726F-BB92-D73D-99BD1AB9C87D}"/>
              </a:ext>
            </a:extLst>
          </p:cNvPr>
          <p:cNvPicPr>
            <a:picLocks noChangeAspect="1"/>
          </p:cNvPicPr>
          <p:nvPr/>
        </p:nvPicPr>
        <p:blipFill>
          <a:blip r:embed="rId3"/>
          <a:stretch>
            <a:fillRect/>
          </a:stretch>
        </p:blipFill>
        <p:spPr>
          <a:xfrm>
            <a:off x="5227244" y="3422903"/>
            <a:ext cx="1737511" cy="12193"/>
          </a:xfrm>
          <a:prstGeom prst="rect">
            <a:avLst/>
          </a:prstGeom>
        </p:spPr>
      </p:pic>
      <p:cxnSp>
        <p:nvCxnSpPr>
          <p:cNvPr id="10" name="Straight Connector 9">
            <a:extLst>
              <a:ext uri="{FF2B5EF4-FFF2-40B4-BE49-F238E27FC236}">
                <a16:creationId xmlns:a16="http://schemas.microsoft.com/office/drawing/2014/main" id="{53D43B2D-F4E0-5F23-E707-0F447174AB3C}"/>
              </a:ext>
            </a:extLst>
          </p:cNvPr>
          <p:cNvCxnSpPr>
            <a:cxnSpLocks/>
          </p:cNvCxnSpPr>
          <p:nvPr/>
        </p:nvCxnSpPr>
        <p:spPr>
          <a:xfrm>
            <a:off x="8284028" y="1741714"/>
            <a:ext cx="2982686"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89478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EFCED-9BFD-D13B-71CE-E320FC7D68D8}"/>
              </a:ext>
            </a:extLst>
          </p:cNvPr>
          <p:cNvSpPr>
            <a:spLocks noGrp="1"/>
          </p:cNvSpPr>
          <p:nvPr>
            <p:ph type="title"/>
          </p:nvPr>
        </p:nvSpPr>
        <p:spPr/>
        <p:txBody>
          <a:bodyPr/>
          <a:lstStyle/>
          <a:p>
            <a:r>
              <a:rPr lang="en-IN" dirty="0"/>
              <a:t>ER Diagram</a:t>
            </a:r>
          </a:p>
        </p:txBody>
      </p:sp>
      <p:pic>
        <p:nvPicPr>
          <p:cNvPr id="4" name="Content Placeholder 4">
            <a:extLst>
              <a:ext uri="{FF2B5EF4-FFF2-40B4-BE49-F238E27FC236}">
                <a16:creationId xmlns:a16="http://schemas.microsoft.com/office/drawing/2014/main" id="{5750A2B7-78E6-6716-B713-A6280DD400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9103" y="1911577"/>
            <a:ext cx="8193793" cy="4445680"/>
          </a:xfrm>
          <a:prstGeom prst="rect">
            <a:avLst/>
          </a:prstGeom>
        </p:spPr>
      </p:pic>
    </p:spTree>
    <p:extLst>
      <p:ext uri="{BB962C8B-B14F-4D97-AF65-F5344CB8AC3E}">
        <p14:creationId xmlns:p14="http://schemas.microsoft.com/office/powerpoint/2010/main" val="3571896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3BA8C-C6EB-A507-C0CF-4D3202A7FD89}"/>
              </a:ext>
            </a:extLst>
          </p:cNvPr>
          <p:cNvSpPr>
            <a:spLocks noGrp="1"/>
          </p:cNvSpPr>
          <p:nvPr>
            <p:ph type="title"/>
          </p:nvPr>
        </p:nvSpPr>
        <p:spPr/>
        <p:txBody>
          <a:bodyPr/>
          <a:lstStyle/>
          <a:p>
            <a:r>
              <a:rPr lang="en-IN" dirty="0"/>
              <a:t>Relational Schema</a:t>
            </a:r>
          </a:p>
        </p:txBody>
      </p:sp>
      <p:sp>
        <p:nvSpPr>
          <p:cNvPr id="3" name="Content Placeholder 2">
            <a:extLst>
              <a:ext uri="{FF2B5EF4-FFF2-40B4-BE49-F238E27FC236}">
                <a16:creationId xmlns:a16="http://schemas.microsoft.com/office/drawing/2014/main" id="{7832995E-97F4-DED3-733A-BFBC9579EB18}"/>
              </a:ext>
            </a:extLst>
          </p:cNvPr>
          <p:cNvSpPr>
            <a:spLocks noGrp="1"/>
          </p:cNvSpPr>
          <p:nvPr>
            <p:ph idx="1"/>
          </p:nvPr>
        </p:nvSpPr>
        <p:spPr/>
        <p:txBody>
          <a:bodyPr/>
          <a:lstStyle/>
          <a:p>
            <a:pPr>
              <a:lnSpc>
                <a:spcPct val="100000"/>
              </a:lnSpc>
              <a:buFont typeface="Wingdings" panose="05000000000000000000" charset="0"/>
              <a:buChar char="v"/>
            </a:pPr>
            <a:r>
              <a:rPr lang="en-US" altLang="en-US" dirty="0"/>
              <a:t>The relational schema defines the database structure using tables, attributes, primary keys, and relationships.</a:t>
            </a:r>
          </a:p>
          <a:p>
            <a:pPr>
              <a:lnSpc>
                <a:spcPct val="100000"/>
              </a:lnSpc>
              <a:buFont typeface="Wingdings" panose="05000000000000000000" charset="0"/>
              <a:buChar char="v"/>
            </a:pPr>
            <a:r>
              <a:rPr lang="en-US" altLang="en-US" dirty="0"/>
              <a:t>Major components such as medicines, suppliers, prescriptions, and sales are stored in separate tables.</a:t>
            </a:r>
          </a:p>
          <a:p>
            <a:pPr>
              <a:lnSpc>
                <a:spcPct val="100000"/>
              </a:lnSpc>
              <a:buFont typeface="Wingdings" panose="05000000000000000000" charset="0"/>
              <a:buChar char="v"/>
            </a:pPr>
            <a:r>
              <a:rPr lang="en-US" altLang="en-US" dirty="0"/>
              <a:t>This separation reduces redundancy and maintains data integrity.</a:t>
            </a:r>
          </a:p>
          <a:p>
            <a:pPr>
              <a:lnSpc>
                <a:spcPct val="100000"/>
              </a:lnSpc>
              <a:buFont typeface="Wingdings" panose="05000000000000000000" charset="0"/>
              <a:buChar char="v"/>
            </a:pPr>
            <a:r>
              <a:rPr lang="en-US" altLang="en-US" dirty="0"/>
              <a:t>Primary keys uniquely identify each record in a table.</a:t>
            </a:r>
          </a:p>
          <a:p>
            <a:pPr>
              <a:lnSpc>
                <a:spcPct val="100000"/>
              </a:lnSpc>
              <a:buFont typeface="Wingdings" panose="05000000000000000000" charset="0"/>
              <a:buChar char="v"/>
            </a:pPr>
            <a:r>
              <a:rPr lang="en-US" altLang="en-US" dirty="0"/>
              <a:t>Foreign keys link related tables and ensure consistency.</a:t>
            </a:r>
          </a:p>
          <a:p>
            <a:pPr>
              <a:lnSpc>
                <a:spcPct val="100000"/>
              </a:lnSpc>
              <a:buFont typeface="Wingdings" panose="05000000000000000000" charset="0"/>
              <a:buChar char="v"/>
            </a:pPr>
            <a:r>
              <a:rPr lang="en-US" altLang="en-US" dirty="0"/>
              <a:t>The structured design follows normalization principles for efficient storage and retrieval.</a:t>
            </a:r>
          </a:p>
          <a:p>
            <a:pPr>
              <a:lnSpc>
                <a:spcPct val="100000"/>
              </a:lnSpc>
              <a:buFont typeface="Wingdings" panose="05000000000000000000" charset="0"/>
              <a:buChar char="v"/>
            </a:pPr>
            <a:r>
              <a:rPr lang="en-US" altLang="en-US" dirty="0"/>
              <a:t>It organizes pharmacy data logically for effective management and reporting.</a:t>
            </a:r>
          </a:p>
          <a:p>
            <a:endParaRPr lang="en-IN" dirty="0"/>
          </a:p>
        </p:txBody>
      </p:sp>
    </p:spTree>
    <p:extLst>
      <p:ext uri="{BB962C8B-B14F-4D97-AF65-F5344CB8AC3E}">
        <p14:creationId xmlns:p14="http://schemas.microsoft.com/office/powerpoint/2010/main" val="1560414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40373-B0E5-D970-7C55-82363D7B9B6F}"/>
              </a:ext>
            </a:extLst>
          </p:cNvPr>
          <p:cNvSpPr>
            <a:spLocks noGrp="1"/>
          </p:cNvSpPr>
          <p:nvPr>
            <p:ph type="title"/>
          </p:nvPr>
        </p:nvSpPr>
        <p:spPr/>
        <p:txBody>
          <a:bodyPr/>
          <a:lstStyle/>
          <a:p>
            <a:r>
              <a:rPr lang="en-IN" dirty="0"/>
              <a:t>Normalization</a:t>
            </a:r>
          </a:p>
        </p:txBody>
      </p:sp>
      <p:sp>
        <p:nvSpPr>
          <p:cNvPr id="3" name="Content Placeholder 2">
            <a:extLst>
              <a:ext uri="{FF2B5EF4-FFF2-40B4-BE49-F238E27FC236}">
                <a16:creationId xmlns:a16="http://schemas.microsoft.com/office/drawing/2014/main" id="{5C15CF92-2E92-0BF1-9108-BCCF62C965E6}"/>
              </a:ext>
            </a:extLst>
          </p:cNvPr>
          <p:cNvSpPr>
            <a:spLocks noGrp="1"/>
          </p:cNvSpPr>
          <p:nvPr>
            <p:ph idx="1"/>
          </p:nvPr>
        </p:nvSpPr>
        <p:spPr/>
        <p:txBody>
          <a:bodyPr/>
          <a:lstStyle/>
          <a:p>
            <a:pPr>
              <a:lnSpc>
                <a:spcPct val="100000"/>
              </a:lnSpc>
              <a:buFont typeface="Wingdings" panose="05000000000000000000" charset="0"/>
              <a:buChar char="v"/>
            </a:pPr>
            <a:r>
              <a:rPr lang="en-US" altLang="en-US" dirty="0"/>
              <a:t>Normalization organizes database data to reduce redundancy and improve integrity.</a:t>
            </a:r>
          </a:p>
          <a:p>
            <a:pPr>
              <a:lnSpc>
                <a:spcPct val="100000"/>
              </a:lnSpc>
              <a:buFont typeface="Wingdings" panose="05000000000000000000" charset="0"/>
              <a:buChar char="v"/>
            </a:pPr>
            <a:r>
              <a:rPr lang="en-US" altLang="en-US" dirty="0"/>
              <a:t>Data is divided into multiple related tables based on logical relationships.</a:t>
            </a:r>
          </a:p>
          <a:p>
            <a:pPr>
              <a:lnSpc>
                <a:spcPct val="100000"/>
              </a:lnSpc>
              <a:buFont typeface="Wingdings" panose="05000000000000000000" charset="0"/>
              <a:buChar char="v"/>
            </a:pPr>
            <a:r>
              <a:rPr lang="en-US" altLang="en-US" dirty="0"/>
              <a:t>Each table stores specific information about entities such as medicines, suppliers, prescriptions, and sales.</a:t>
            </a:r>
          </a:p>
          <a:p>
            <a:pPr>
              <a:lnSpc>
                <a:spcPct val="100000"/>
              </a:lnSpc>
              <a:buFont typeface="Wingdings" panose="05000000000000000000" charset="0"/>
              <a:buChar char="v"/>
            </a:pPr>
            <a:r>
              <a:rPr lang="en-US" altLang="en-US" dirty="0"/>
              <a:t>Primary and foreign keys maintain relationships between tables.</a:t>
            </a:r>
          </a:p>
          <a:p>
            <a:pPr>
              <a:lnSpc>
                <a:spcPct val="100000"/>
              </a:lnSpc>
              <a:buFont typeface="Wingdings" panose="05000000000000000000" charset="0"/>
              <a:buChar char="v"/>
            </a:pPr>
            <a:r>
              <a:rPr lang="en-US" altLang="en-US" dirty="0"/>
              <a:t>This process eliminates duplicate data and prevents insertion, deletion, and update anomalies.</a:t>
            </a:r>
          </a:p>
          <a:p>
            <a:pPr>
              <a:lnSpc>
                <a:spcPct val="100000"/>
              </a:lnSpc>
              <a:buFont typeface="Wingdings" panose="05000000000000000000" charset="0"/>
              <a:buChar char="v"/>
            </a:pPr>
            <a:r>
              <a:rPr lang="en-US" altLang="en-US" dirty="0"/>
              <a:t>It ensures data consistency, efficient storage, and reliable information retrieval.</a:t>
            </a:r>
          </a:p>
          <a:p>
            <a:endParaRPr lang="en-IN" dirty="0"/>
          </a:p>
        </p:txBody>
      </p:sp>
    </p:spTree>
    <p:extLst>
      <p:ext uri="{BB962C8B-B14F-4D97-AF65-F5344CB8AC3E}">
        <p14:creationId xmlns:p14="http://schemas.microsoft.com/office/powerpoint/2010/main" val="2577188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976D6-FC6C-3F0C-EB32-F56B4E0F8FA7}"/>
              </a:ext>
            </a:extLst>
          </p:cNvPr>
          <p:cNvSpPr>
            <a:spLocks noGrp="1"/>
          </p:cNvSpPr>
          <p:nvPr>
            <p:ph type="title"/>
          </p:nvPr>
        </p:nvSpPr>
        <p:spPr/>
        <p:txBody>
          <a:bodyPr/>
          <a:lstStyle/>
          <a:p>
            <a:r>
              <a:rPr lang="en-IN" dirty="0"/>
              <a:t>Database and Table Creation</a:t>
            </a:r>
          </a:p>
        </p:txBody>
      </p:sp>
      <p:sp>
        <p:nvSpPr>
          <p:cNvPr id="4" name="Content Placeholder 3">
            <a:extLst>
              <a:ext uri="{FF2B5EF4-FFF2-40B4-BE49-F238E27FC236}">
                <a16:creationId xmlns:a16="http://schemas.microsoft.com/office/drawing/2014/main" id="{2CEFACCC-014E-1817-F66E-EB0CC5A3F8AD}"/>
              </a:ext>
            </a:extLst>
          </p:cNvPr>
          <p:cNvSpPr txBox="1">
            <a:spLocks noGrp="1"/>
          </p:cNvSpPr>
          <p:nvPr>
            <p:ph idx="1"/>
          </p:nvPr>
        </p:nvSpPr>
        <p:spPr>
          <a:xfrm>
            <a:off x="1096963" y="1846263"/>
            <a:ext cx="3126694" cy="3511987"/>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IN" sz="2400" dirty="0"/>
              <a:t>Medicine Table</a:t>
            </a:r>
          </a:p>
          <a:p>
            <a:pPr marL="285750" indent="-285750">
              <a:lnSpc>
                <a:spcPct val="150000"/>
              </a:lnSpc>
              <a:buFont typeface="Wingdings" panose="05000000000000000000" pitchFamily="2" charset="2"/>
              <a:buChar char="q"/>
            </a:pPr>
            <a:r>
              <a:rPr lang="en-IN" sz="2400" dirty="0"/>
              <a:t>Supplier Table</a:t>
            </a:r>
          </a:p>
          <a:p>
            <a:pPr marL="285750" indent="-285750">
              <a:lnSpc>
                <a:spcPct val="150000"/>
              </a:lnSpc>
              <a:buFont typeface="Wingdings" panose="05000000000000000000" pitchFamily="2" charset="2"/>
              <a:buChar char="q"/>
            </a:pPr>
            <a:r>
              <a:rPr lang="en-IN" sz="2400" dirty="0"/>
              <a:t>Sales details table</a:t>
            </a:r>
          </a:p>
          <a:p>
            <a:pPr marL="285750" indent="-285750">
              <a:lnSpc>
                <a:spcPct val="150000"/>
              </a:lnSpc>
              <a:buFont typeface="Wingdings" panose="05000000000000000000" pitchFamily="2" charset="2"/>
              <a:buChar char="q"/>
            </a:pPr>
            <a:r>
              <a:rPr lang="en-IN" sz="2400" dirty="0"/>
              <a:t>Prescription Table</a:t>
            </a:r>
          </a:p>
          <a:p>
            <a:pPr marL="285750" indent="-285750">
              <a:lnSpc>
                <a:spcPct val="150000"/>
              </a:lnSpc>
              <a:buFont typeface="Wingdings" panose="05000000000000000000" pitchFamily="2" charset="2"/>
              <a:buChar char="q"/>
            </a:pPr>
            <a:r>
              <a:rPr lang="en-IN" sz="2400" dirty="0"/>
              <a:t>Customer Table</a:t>
            </a:r>
          </a:p>
        </p:txBody>
      </p:sp>
      <p:pic>
        <p:nvPicPr>
          <p:cNvPr id="5" name="Content Placeholder 6" descr="m 1">
            <a:extLst>
              <a:ext uri="{FF2B5EF4-FFF2-40B4-BE49-F238E27FC236}">
                <a16:creationId xmlns:a16="http://schemas.microsoft.com/office/drawing/2014/main" id="{C1936BCB-47E0-26DE-F4CA-18EC0D8A6B86}"/>
              </a:ext>
            </a:extLst>
          </p:cNvPr>
          <p:cNvPicPr>
            <a:picLocks noChangeAspect="1"/>
          </p:cNvPicPr>
          <p:nvPr/>
        </p:nvPicPr>
        <p:blipFill>
          <a:blip r:embed="rId2"/>
          <a:srcRect t="5742"/>
          <a:stretch>
            <a:fillRect/>
          </a:stretch>
        </p:blipFill>
        <p:spPr>
          <a:xfrm>
            <a:off x="4200749" y="1946572"/>
            <a:ext cx="7270898" cy="3855514"/>
          </a:xfrm>
          <a:prstGeom prst="rect">
            <a:avLst/>
          </a:prstGeom>
        </p:spPr>
      </p:pic>
    </p:spTree>
    <p:extLst>
      <p:ext uri="{BB962C8B-B14F-4D97-AF65-F5344CB8AC3E}">
        <p14:creationId xmlns:p14="http://schemas.microsoft.com/office/powerpoint/2010/main" val="49830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4248-5E0C-DF21-CD80-B2B5D12FE51A}"/>
              </a:ext>
            </a:extLst>
          </p:cNvPr>
          <p:cNvSpPr>
            <a:spLocks noGrp="1"/>
          </p:cNvSpPr>
          <p:nvPr>
            <p:ph type="title"/>
          </p:nvPr>
        </p:nvSpPr>
        <p:spPr/>
        <p:txBody>
          <a:bodyPr/>
          <a:lstStyle/>
          <a:p>
            <a:r>
              <a:rPr lang="en-IN" dirty="0"/>
              <a:t>SQL Implementation &amp; Queries</a:t>
            </a:r>
          </a:p>
        </p:txBody>
      </p:sp>
      <p:pic>
        <p:nvPicPr>
          <p:cNvPr id="5" name="Picture 4">
            <a:extLst>
              <a:ext uri="{FF2B5EF4-FFF2-40B4-BE49-F238E27FC236}">
                <a16:creationId xmlns:a16="http://schemas.microsoft.com/office/drawing/2014/main" id="{22C7B43E-C414-639D-3E66-3F65B1E94F4E}"/>
              </a:ext>
            </a:extLst>
          </p:cNvPr>
          <p:cNvPicPr>
            <a:picLocks noChangeAspect="1"/>
          </p:cNvPicPr>
          <p:nvPr/>
        </p:nvPicPr>
        <p:blipFill>
          <a:blip r:embed="rId2"/>
          <a:stretch>
            <a:fillRect/>
          </a:stretch>
        </p:blipFill>
        <p:spPr>
          <a:xfrm>
            <a:off x="976034" y="2184888"/>
            <a:ext cx="4535817" cy="2139881"/>
          </a:xfrm>
          <a:prstGeom prst="rect">
            <a:avLst/>
          </a:prstGeom>
        </p:spPr>
      </p:pic>
      <p:sp>
        <p:nvSpPr>
          <p:cNvPr id="6" name="TextBox 5">
            <a:extLst>
              <a:ext uri="{FF2B5EF4-FFF2-40B4-BE49-F238E27FC236}">
                <a16:creationId xmlns:a16="http://schemas.microsoft.com/office/drawing/2014/main" id="{55910E6D-78FB-3C8A-A531-EF87EB1EA816}"/>
              </a:ext>
            </a:extLst>
          </p:cNvPr>
          <p:cNvSpPr txBox="1"/>
          <p:nvPr/>
        </p:nvSpPr>
        <p:spPr>
          <a:xfrm>
            <a:off x="5943600" y="2184888"/>
            <a:ext cx="5802086" cy="2585323"/>
          </a:xfrm>
          <a:prstGeom prst="rect">
            <a:avLst/>
          </a:prstGeom>
          <a:noFill/>
        </p:spPr>
        <p:txBody>
          <a:bodyPr wrap="square" rtlCol="0">
            <a:spAutoFit/>
          </a:bodyPr>
          <a:lstStyle/>
          <a:p>
            <a:r>
              <a:rPr lang="en-US" dirty="0"/>
              <a:t>CREATE TABLE medicines(</a:t>
            </a:r>
          </a:p>
          <a:p>
            <a:r>
              <a:rPr lang="en-US" dirty="0"/>
              <a:t>    </a:t>
            </a:r>
            <a:r>
              <a:rPr lang="en-US" dirty="0" err="1"/>
              <a:t>medicine_id</a:t>
            </a:r>
            <a:r>
              <a:rPr lang="en-US" dirty="0"/>
              <a:t> INT PRIMARY KEY AUTO_INCREMENT,</a:t>
            </a:r>
          </a:p>
          <a:p>
            <a:r>
              <a:rPr lang="en-US" dirty="0"/>
              <a:t>    </a:t>
            </a:r>
            <a:r>
              <a:rPr lang="en-US" dirty="0" err="1"/>
              <a:t>medicine_name</a:t>
            </a:r>
            <a:r>
              <a:rPr lang="en-US" dirty="0"/>
              <a:t> VARCHAR(100),</a:t>
            </a:r>
          </a:p>
          <a:p>
            <a:r>
              <a:rPr lang="en-US" dirty="0"/>
              <a:t>    </a:t>
            </a:r>
            <a:r>
              <a:rPr lang="en-US" dirty="0" err="1"/>
              <a:t>supplier_id</a:t>
            </a:r>
            <a:r>
              <a:rPr lang="en-US" dirty="0"/>
              <a:t> INT,</a:t>
            </a:r>
          </a:p>
          <a:p>
            <a:r>
              <a:rPr lang="en-US" dirty="0"/>
              <a:t>    price DECIMAL(10,2),</a:t>
            </a:r>
          </a:p>
          <a:p>
            <a:r>
              <a:rPr lang="en-US" dirty="0"/>
              <a:t>    quantity INT,</a:t>
            </a:r>
          </a:p>
          <a:p>
            <a:r>
              <a:rPr lang="en-US" dirty="0"/>
              <a:t>    </a:t>
            </a:r>
            <a:r>
              <a:rPr lang="en-US" dirty="0" err="1"/>
              <a:t>expiry_date</a:t>
            </a:r>
            <a:r>
              <a:rPr lang="en-US" dirty="0"/>
              <a:t> DATE</a:t>
            </a:r>
          </a:p>
          <a:p>
            <a:r>
              <a:rPr lang="en-US" dirty="0"/>
              <a:t>);</a:t>
            </a:r>
            <a:endParaRPr lang="en-IN" dirty="0"/>
          </a:p>
        </p:txBody>
      </p:sp>
    </p:spTree>
    <p:extLst>
      <p:ext uri="{BB962C8B-B14F-4D97-AF65-F5344CB8AC3E}">
        <p14:creationId xmlns:p14="http://schemas.microsoft.com/office/powerpoint/2010/main" val="63743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EF5C6-AFE3-603D-2430-CB512DDC7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DF699-ECB0-8225-54BA-697AF740013E}"/>
              </a:ext>
            </a:extLst>
          </p:cNvPr>
          <p:cNvSpPr>
            <a:spLocks noGrp="1"/>
          </p:cNvSpPr>
          <p:nvPr>
            <p:ph type="title"/>
          </p:nvPr>
        </p:nvSpPr>
        <p:spPr/>
        <p:txBody>
          <a:bodyPr/>
          <a:lstStyle/>
          <a:p>
            <a:r>
              <a:rPr lang="en-IN" dirty="0"/>
              <a:t>SQL Implementation &amp; Queries</a:t>
            </a:r>
          </a:p>
        </p:txBody>
      </p:sp>
      <p:sp>
        <p:nvSpPr>
          <p:cNvPr id="3" name="TextBox 2">
            <a:extLst>
              <a:ext uri="{FF2B5EF4-FFF2-40B4-BE49-F238E27FC236}">
                <a16:creationId xmlns:a16="http://schemas.microsoft.com/office/drawing/2014/main" id="{9E739202-3095-0842-534D-6D83B328D06F}"/>
              </a:ext>
            </a:extLst>
          </p:cNvPr>
          <p:cNvSpPr txBox="1"/>
          <p:nvPr/>
        </p:nvSpPr>
        <p:spPr>
          <a:xfrm>
            <a:off x="1184366" y="2413337"/>
            <a:ext cx="4397829" cy="2031325"/>
          </a:xfrm>
          <a:prstGeom prst="rect">
            <a:avLst/>
          </a:prstGeom>
          <a:noFill/>
        </p:spPr>
        <p:txBody>
          <a:bodyPr wrap="square" rtlCol="0">
            <a:spAutoFit/>
          </a:bodyPr>
          <a:lstStyle/>
          <a:p>
            <a:r>
              <a:rPr lang="en-US" dirty="0"/>
              <a:t>CREATE TABLE prescriptions(</a:t>
            </a:r>
          </a:p>
          <a:p>
            <a:r>
              <a:rPr lang="en-US" dirty="0"/>
              <a:t>    </a:t>
            </a:r>
            <a:r>
              <a:rPr lang="en-US" dirty="0" err="1"/>
              <a:t>prescription_id</a:t>
            </a:r>
            <a:r>
              <a:rPr lang="en-US" dirty="0"/>
              <a:t> INT PRIMARY KEY AUTO_INCREMENT,</a:t>
            </a:r>
          </a:p>
          <a:p>
            <a:r>
              <a:rPr lang="en-US" dirty="0"/>
              <a:t>    </a:t>
            </a:r>
            <a:r>
              <a:rPr lang="en-US" dirty="0" err="1"/>
              <a:t>patient_name</a:t>
            </a:r>
            <a:r>
              <a:rPr lang="en-US" dirty="0"/>
              <a:t> VARCHAR(100),</a:t>
            </a:r>
          </a:p>
          <a:p>
            <a:r>
              <a:rPr lang="en-US" dirty="0"/>
              <a:t>    </a:t>
            </a:r>
            <a:r>
              <a:rPr lang="en-US" dirty="0" err="1"/>
              <a:t>doctor_name</a:t>
            </a:r>
            <a:r>
              <a:rPr lang="en-US" dirty="0"/>
              <a:t> VARCHAR(100),</a:t>
            </a:r>
          </a:p>
          <a:p>
            <a:r>
              <a:rPr lang="en-US" dirty="0"/>
              <a:t>    date </a:t>
            </a:r>
            <a:r>
              <a:rPr lang="en-US" dirty="0" err="1"/>
              <a:t>DATE</a:t>
            </a:r>
            <a:endParaRPr lang="en-US" dirty="0"/>
          </a:p>
          <a:p>
            <a:r>
              <a:rPr lang="en-US" dirty="0"/>
              <a:t>);</a:t>
            </a:r>
            <a:endParaRPr lang="en-IN" dirty="0"/>
          </a:p>
        </p:txBody>
      </p:sp>
      <p:sp>
        <p:nvSpPr>
          <p:cNvPr id="4" name="TextBox 3">
            <a:extLst>
              <a:ext uri="{FF2B5EF4-FFF2-40B4-BE49-F238E27FC236}">
                <a16:creationId xmlns:a16="http://schemas.microsoft.com/office/drawing/2014/main" id="{0A85654C-352B-6203-923D-F37160BF8FA0}"/>
              </a:ext>
            </a:extLst>
          </p:cNvPr>
          <p:cNvSpPr txBox="1"/>
          <p:nvPr/>
        </p:nvSpPr>
        <p:spPr>
          <a:xfrm>
            <a:off x="5834743" y="2413337"/>
            <a:ext cx="6063343" cy="2031325"/>
          </a:xfrm>
          <a:prstGeom prst="rect">
            <a:avLst/>
          </a:prstGeom>
          <a:noFill/>
        </p:spPr>
        <p:txBody>
          <a:bodyPr wrap="square" rtlCol="0">
            <a:spAutoFit/>
          </a:bodyPr>
          <a:lstStyle/>
          <a:p>
            <a:r>
              <a:rPr lang="en-US" dirty="0"/>
              <a:t>CREATE TABLE sales(</a:t>
            </a:r>
          </a:p>
          <a:p>
            <a:r>
              <a:rPr lang="en-US" dirty="0"/>
              <a:t>    </a:t>
            </a:r>
            <a:r>
              <a:rPr lang="en-US" dirty="0" err="1"/>
              <a:t>sale_id</a:t>
            </a:r>
            <a:r>
              <a:rPr lang="en-US" dirty="0"/>
              <a:t> INT PRIMARY KEY AUTO_INCREMENT,</a:t>
            </a:r>
          </a:p>
          <a:p>
            <a:r>
              <a:rPr lang="en-US" dirty="0"/>
              <a:t>    </a:t>
            </a:r>
            <a:r>
              <a:rPr lang="en-US" dirty="0" err="1"/>
              <a:t>medicine_id</a:t>
            </a:r>
            <a:r>
              <a:rPr lang="en-US" dirty="0"/>
              <a:t> INT,</a:t>
            </a:r>
          </a:p>
          <a:p>
            <a:r>
              <a:rPr lang="en-US" dirty="0"/>
              <a:t>    quantity INT,</a:t>
            </a:r>
          </a:p>
          <a:p>
            <a:r>
              <a:rPr lang="en-US" dirty="0"/>
              <a:t>    </a:t>
            </a:r>
            <a:r>
              <a:rPr lang="en-US" dirty="0" err="1"/>
              <a:t>total_price</a:t>
            </a:r>
            <a:r>
              <a:rPr lang="en-US" dirty="0"/>
              <a:t> DECIMAL(10,2),</a:t>
            </a:r>
          </a:p>
          <a:p>
            <a:r>
              <a:rPr lang="en-US" dirty="0"/>
              <a:t>    </a:t>
            </a:r>
            <a:r>
              <a:rPr lang="en-US" dirty="0" err="1"/>
              <a:t>sale_date</a:t>
            </a:r>
            <a:r>
              <a:rPr lang="en-US" dirty="0"/>
              <a:t> DATE,</a:t>
            </a:r>
          </a:p>
          <a:p>
            <a:r>
              <a:rPr lang="en-US" dirty="0"/>
              <a:t>);</a:t>
            </a:r>
            <a:endParaRPr lang="en-IN" dirty="0"/>
          </a:p>
        </p:txBody>
      </p:sp>
    </p:spTree>
    <p:extLst>
      <p:ext uri="{BB962C8B-B14F-4D97-AF65-F5344CB8AC3E}">
        <p14:creationId xmlns:p14="http://schemas.microsoft.com/office/powerpoint/2010/main" val="2556270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1D0C-0FC9-9E33-D706-899A7B6679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DCA7AD0-47A0-9B54-DA62-3C215890099C}"/>
              </a:ext>
            </a:extLst>
          </p:cNvPr>
          <p:cNvSpPr>
            <a:spLocks noGrp="1"/>
          </p:cNvSpPr>
          <p:nvPr>
            <p:ph type="title"/>
          </p:nvPr>
        </p:nvSpPr>
        <p:spPr>
          <a:xfrm>
            <a:off x="1096963" y="287338"/>
            <a:ext cx="10058400" cy="1449387"/>
          </a:xfrm>
        </p:spPr>
        <p:txBody>
          <a:bodyPr/>
          <a:lstStyle/>
          <a:p>
            <a:r>
              <a:rPr lang="en-IN" dirty="0"/>
              <a:t>SQL Implementation &amp; Queries</a:t>
            </a:r>
          </a:p>
        </p:txBody>
      </p:sp>
      <p:sp>
        <p:nvSpPr>
          <p:cNvPr id="5" name="TextBox 4">
            <a:extLst>
              <a:ext uri="{FF2B5EF4-FFF2-40B4-BE49-F238E27FC236}">
                <a16:creationId xmlns:a16="http://schemas.microsoft.com/office/drawing/2014/main" id="{BE8B9D68-6E69-3897-71F1-8798C6EFB350}"/>
              </a:ext>
            </a:extLst>
          </p:cNvPr>
          <p:cNvSpPr txBox="1"/>
          <p:nvPr/>
        </p:nvSpPr>
        <p:spPr>
          <a:xfrm>
            <a:off x="1251857" y="2394857"/>
            <a:ext cx="4397829" cy="1754326"/>
          </a:xfrm>
          <a:prstGeom prst="rect">
            <a:avLst/>
          </a:prstGeom>
          <a:noFill/>
        </p:spPr>
        <p:txBody>
          <a:bodyPr wrap="square" rtlCol="0">
            <a:spAutoFit/>
          </a:bodyPr>
          <a:lstStyle/>
          <a:p>
            <a:r>
              <a:rPr lang="en-US" dirty="0"/>
              <a:t>CREATE TABLE customers(    </a:t>
            </a:r>
            <a:r>
              <a:rPr lang="en-US" dirty="0" err="1"/>
              <a:t>customer_id</a:t>
            </a:r>
            <a:r>
              <a:rPr lang="en-US" dirty="0"/>
              <a:t> INT PRIMARY KEY AUTO_INCREMENT,    </a:t>
            </a:r>
            <a:r>
              <a:rPr lang="en-US" dirty="0" err="1"/>
              <a:t>customer_name</a:t>
            </a:r>
            <a:r>
              <a:rPr lang="en-US" dirty="0"/>
              <a:t> VARCHAR(100),    </a:t>
            </a:r>
            <a:r>
              <a:rPr lang="en-US" dirty="0" err="1"/>
              <a:t>phone_number</a:t>
            </a:r>
            <a:r>
              <a:rPr lang="en-US" dirty="0"/>
              <a:t> VARCHAR(15),    email VARCHAR(100),    address VARCHAR(255)););</a:t>
            </a:r>
            <a:endParaRPr lang="en-IN" dirty="0"/>
          </a:p>
        </p:txBody>
      </p:sp>
    </p:spTree>
    <p:extLst>
      <p:ext uri="{BB962C8B-B14F-4D97-AF65-F5344CB8AC3E}">
        <p14:creationId xmlns:p14="http://schemas.microsoft.com/office/powerpoint/2010/main" val="3417554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Medicine Management Module </a:t>
            </a:r>
            <a:endParaRPr lang="en-IN" dirty="0"/>
          </a:p>
        </p:txBody>
      </p:sp>
      <p:sp>
        <p:nvSpPr>
          <p:cNvPr id="3" name="Content Placeholder 2"/>
          <p:cNvSpPr>
            <a:spLocks noGrp="1"/>
          </p:cNvSpPr>
          <p:nvPr>
            <p:ph idx="1"/>
          </p:nvPr>
        </p:nvSpPr>
        <p:spPr>
          <a:xfrm>
            <a:off x="1097280" y="1845945"/>
            <a:ext cx="9472930" cy="3730625"/>
          </a:xfrm>
        </p:spPr>
        <p:txBody>
          <a:bodyPr>
            <a:noAutofit/>
          </a:bodyPr>
          <a:lstStyle/>
          <a:p>
            <a:pPr>
              <a:lnSpc>
                <a:spcPct val="100000"/>
              </a:lnSpc>
            </a:pPr>
            <a:r>
              <a:rPr lang="en-US" altLang="en-US" sz="1500" b="1">
                <a:latin typeface="Times New Roman" panose="02020603050405020304" charset="0"/>
                <a:cs typeface="Times New Roman" panose="02020603050405020304" charset="0"/>
              </a:rPr>
              <a:t>Purpose:</a:t>
            </a:r>
          </a:p>
          <a:p>
            <a:pPr>
              <a:lnSpc>
                <a:spcPct val="100000"/>
              </a:lnSpc>
            </a:pPr>
            <a:r>
              <a:rPr lang="en-US" altLang="en-US" sz="1500">
                <a:latin typeface="Times New Roman" panose="02020603050405020304" charset="0"/>
                <a:cs typeface="Times New Roman" panose="02020603050405020304" charset="0"/>
              </a:rPr>
              <a:t>This module manages all information related to medicines available in the pharmacy.</a:t>
            </a:r>
          </a:p>
          <a:p>
            <a:pPr>
              <a:lnSpc>
                <a:spcPct val="100000"/>
              </a:lnSpc>
            </a:pPr>
            <a:r>
              <a:rPr lang="en-US" altLang="en-US" sz="1500" b="1">
                <a:latin typeface="Times New Roman" panose="02020603050405020304" charset="0"/>
                <a:cs typeface="Times New Roman" panose="02020603050405020304" charset="0"/>
              </a:rPr>
              <a:t>Explanation:</a:t>
            </a:r>
          </a:p>
          <a:p>
            <a:pPr>
              <a:lnSpc>
                <a:spcPct val="100000"/>
              </a:lnSpc>
            </a:pPr>
            <a:r>
              <a:rPr lang="en-US" altLang="en-US" sz="1500">
                <a:latin typeface="Times New Roman" panose="02020603050405020304" charset="0"/>
                <a:cs typeface="Times New Roman" panose="02020603050405020304" charset="0"/>
              </a:rPr>
              <a:t>The pharmacy stores different types of medicines with details such as name, price, quantity, and expiry date. This module helps maintain an organized record of all medicines in the database.</a:t>
            </a:r>
          </a:p>
          <a:p>
            <a:pPr>
              <a:lnSpc>
                <a:spcPct val="100000"/>
              </a:lnSpc>
            </a:pPr>
            <a:r>
              <a:rPr lang="en-US" altLang="en-US" sz="1500" b="1">
                <a:latin typeface="Times New Roman" panose="02020603050405020304" charset="0"/>
                <a:cs typeface="Times New Roman" panose="02020603050405020304" charset="0"/>
              </a:rPr>
              <a:t>Functions:</a:t>
            </a:r>
          </a:p>
          <a:p>
            <a:pPr>
              <a:lnSpc>
                <a:spcPct val="100000"/>
              </a:lnSpc>
              <a:buFont typeface="Arial" panose="020B0604020202020204" pitchFamily="34" charset="0"/>
              <a:buChar char="•"/>
            </a:pPr>
            <a:r>
              <a:rPr lang="en-US" altLang="en-US" sz="1500">
                <a:latin typeface="Times New Roman" panose="02020603050405020304" charset="0"/>
                <a:cs typeface="Times New Roman" panose="02020603050405020304" charset="0"/>
              </a:rPr>
              <a:t>Add new medicines to the database</a:t>
            </a:r>
          </a:p>
          <a:p>
            <a:pPr>
              <a:lnSpc>
                <a:spcPct val="100000"/>
              </a:lnSpc>
              <a:buFont typeface="Arial" panose="020B0604020202020204" pitchFamily="34" charset="0"/>
              <a:buChar char="•"/>
            </a:pPr>
            <a:r>
              <a:rPr lang="en-US" altLang="en-US" sz="1500">
                <a:latin typeface="Times New Roman" panose="02020603050405020304" charset="0"/>
                <a:cs typeface="Times New Roman" panose="02020603050405020304" charset="0"/>
              </a:rPr>
              <a:t>Update medicine details</a:t>
            </a:r>
          </a:p>
          <a:p>
            <a:pPr>
              <a:lnSpc>
                <a:spcPct val="100000"/>
              </a:lnSpc>
              <a:buFont typeface="Arial" panose="020B0604020202020204" pitchFamily="34" charset="0"/>
              <a:buChar char="•"/>
            </a:pPr>
            <a:r>
              <a:rPr lang="en-US" altLang="en-US" sz="1500">
                <a:latin typeface="Times New Roman" panose="02020603050405020304" charset="0"/>
                <a:cs typeface="Times New Roman" panose="02020603050405020304" charset="0"/>
              </a:rPr>
              <a:t>Delete medicine records</a:t>
            </a:r>
          </a:p>
          <a:p>
            <a:pPr>
              <a:lnSpc>
                <a:spcPct val="100000"/>
              </a:lnSpc>
              <a:buFont typeface="Arial" panose="020B0604020202020204" pitchFamily="34" charset="0"/>
              <a:buChar char="•"/>
            </a:pPr>
            <a:r>
              <a:rPr lang="en-US" altLang="en-US" sz="1500">
                <a:latin typeface="Times New Roman" panose="02020603050405020304" charset="0"/>
                <a:cs typeface="Times New Roman" panose="02020603050405020304" charset="0"/>
              </a:rPr>
              <a:t>Check available stock</a:t>
            </a:r>
          </a:p>
          <a:p>
            <a:pPr>
              <a:lnSpc>
                <a:spcPct val="100000"/>
              </a:lnSpc>
              <a:buFont typeface="Arial" panose="020B0604020202020204" pitchFamily="34" charset="0"/>
              <a:buChar char="•"/>
            </a:pPr>
            <a:r>
              <a:rPr lang="en-US" altLang="en-US" sz="1500">
                <a:latin typeface="Times New Roman" panose="02020603050405020304" charset="0"/>
                <a:cs typeface="Times New Roman" panose="02020603050405020304" charset="0"/>
              </a:rPr>
              <a:t>Track expiry dates</a:t>
            </a:r>
          </a:p>
          <a:p>
            <a:pPr>
              <a:lnSpc>
                <a:spcPct val="100000"/>
              </a:lnSpc>
            </a:pPr>
            <a:endParaRPr lang="en-US" altLang="en-US" sz="15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Supplier Management Module</a:t>
            </a:r>
          </a:p>
        </p:txBody>
      </p:sp>
      <p:sp>
        <p:nvSpPr>
          <p:cNvPr id="3" name="Content Placeholder 2"/>
          <p:cNvSpPr>
            <a:spLocks noGrp="1"/>
          </p:cNvSpPr>
          <p:nvPr>
            <p:ph idx="1"/>
          </p:nvPr>
        </p:nvSpPr>
        <p:spPr/>
        <p:txBody>
          <a:bodyPr>
            <a:normAutofit/>
          </a:bodyPr>
          <a:lstStyle/>
          <a:p>
            <a:r>
              <a:rPr lang="en-US" altLang="en-US" sz="1600" b="1">
                <a:latin typeface="Times New Roman" panose="02020603050405020304" charset="0"/>
                <a:cs typeface="Times New Roman" panose="02020603050405020304" charset="0"/>
              </a:rPr>
              <a:t>Purpose:</a:t>
            </a:r>
          </a:p>
          <a:p>
            <a:r>
              <a:rPr lang="en-US" altLang="en-US" sz="1600">
                <a:latin typeface="Times New Roman" panose="02020603050405020304" charset="0"/>
                <a:cs typeface="Times New Roman" panose="02020603050405020304" charset="0"/>
              </a:rPr>
              <a:t>This module manages the suppliers who provide medicines to the pharmacy.</a:t>
            </a:r>
          </a:p>
          <a:p>
            <a:r>
              <a:rPr lang="en-US" altLang="en-US" sz="1600" b="1">
                <a:latin typeface="Times New Roman" panose="02020603050405020304" charset="0"/>
                <a:cs typeface="Times New Roman" panose="02020603050405020304" charset="0"/>
              </a:rPr>
              <a:t>Explanation</a:t>
            </a:r>
            <a:r>
              <a:rPr lang="en-US" altLang="en-US" sz="1600">
                <a:latin typeface="Times New Roman" panose="02020603050405020304" charset="0"/>
                <a:cs typeface="Times New Roman" panose="02020603050405020304" charset="0"/>
              </a:rPr>
              <a:t>:</a:t>
            </a:r>
          </a:p>
          <a:p>
            <a:r>
              <a:rPr lang="en-US" altLang="en-US" sz="1600">
                <a:latin typeface="Times New Roman" panose="02020603050405020304" charset="0"/>
                <a:cs typeface="Times New Roman" panose="02020603050405020304" charset="0"/>
              </a:rPr>
              <a:t>Pharmacies purchase medicines from different suppliers. The system stores supplier details so that the pharmacy can easily track the source of medicines and maintain supplier records.</a:t>
            </a:r>
          </a:p>
          <a:p>
            <a:r>
              <a:rPr lang="en-US" altLang="en-US" sz="1600" b="1">
                <a:latin typeface="Times New Roman" panose="02020603050405020304" charset="0"/>
                <a:cs typeface="Times New Roman" panose="02020603050405020304" charset="0"/>
              </a:rPr>
              <a:t>Functions:</a:t>
            </a:r>
          </a:p>
          <a:p>
            <a:pPr>
              <a:buFont typeface="Arial" panose="020B0604020202020204" pitchFamily="34" charset="0"/>
              <a:buChar char="•"/>
            </a:pPr>
            <a:r>
              <a:rPr lang="en-US" altLang="en-US" sz="1600">
                <a:latin typeface="Times New Roman" panose="02020603050405020304" charset="0"/>
                <a:cs typeface="Times New Roman" panose="02020603050405020304" charset="0"/>
              </a:rPr>
              <a:t>Add supplier details</a:t>
            </a:r>
          </a:p>
          <a:p>
            <a:pPr>
              <a:buFont typeface="Arial" panose="020B0604020202020204" pitchFamily="34" charset="0"/>
              <a:buChar char="•"/>
            </a:pPr>
            <a:r>
              <a:rPr lang="en-US" altLang="en-US" sz="1600">
                <a:latin typeface="Times New Roman" panose="02020603050405020304" charset="0"/>
                <a:cs typeface="Times New Roman" panose="02020603050405020304" charset="0"/>
              </a:rPr>
              <a:t>Update supplier information</a:t>
            </a:r>
          </a:p>
          <a:p>
            <a:pPr>
              <a:buFont typeface="Arial" panose="020B0604020202020204" pitchFamily="34" charset="0"/>
              <a:buChar char="•"/>
            </a:pPr>
            <a:r>
              <a:rPr lang="en-US" altLang="en-US" sz="1600">
                <a:latin typeface="Times New Roman" panose="02020603050405020304" charset="0"/>
                <a:cs typeface="Times New Roman" panose="02020603050405020304" charset="0"/>
              </a:rPr>
              <a:t>View supplier list</a:t>
            </a:r>
          </a:p>
          <a:p>
            <a:pPr>
              <a:buFont typeface="Arial" panose="020B0604020202020204" pitchFamily="34" charset="0"/>
              <a:buChar char="•"/>
            </a:pPr>
            <a:r>
              <a:rPr lang="en-US" altLang="en-US" sz="1600">
                <a:latin typeface="Times New Roman" panose="02020603050405020304" charset="0"/>
                <a:cs typeface="Times New Roman" panose="02020603050405020304" charset="0"/>
              </a:rPr>
              <a:t>Store contact and address details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Prescription Management Module</a:t>
            </a:r>
          </a:p>
        </p:txBody>
      </p:sp>
      <p:sp>
        <p:nvSpPr>
          <p:cNvPr id="3" name="Content Placeholder 2"/>
          <p:cNvSpPr>
            <a:spLocks noGrp="1"/>
          </p:cNvSpPr>
          <p:nvPr>
            <p:ph idx="1"/>
          </p:nvPr>
        </p:nvSpPr>
        <p:spPr/>
        <p:txBody>
          <a:bodyPr>
            <a:normAutofit/>
          </a:bodyPr>
          <a:lstStyle/>
          <a:p>
            <a:r>
              <a:rPr lang="en-US" altLang="en-US" sz="1600" b="1" dirty="0">
                <a:latin typeface="Times New Roman" panose="02020603050405020304" charset="0"/>
                <a:cs typeface="Times New Roman" panose="02020603050405020304" charset="0"/>
              </a:rPr>
              <a:t>Purpose:</a:t>
            </a:r>
          </a:p>
          <a:p>
            <a:r>
              <a:rPr lang="en-US" altLang="en-US" sz="1600" dirty="0">
                <a:latin typeface="Times New Roman" panose="02020603050405020304" charset="0"/>
                <a:cs typeface="Times New Roman" panose="02020603050405020304" charset="0"/>
              </a:rPr>
              <a:t>This module manages doctor prescriptions given to patients.</a:t>
            </a:r>
          </a:p>
          <a:p>
            <a:r>
              <a:rPr lang="en-US" altLang="en-US" sz="1600" b="1" dirty="0">
                <a:latin typeface="Times New Roman" panose="02020603050405020304" charset="0"/>
                <a:cs typeface="Times New Roman" panose="02020603050405020304" charset="0"/>
              </a:rPr>
              <a:t>Explanation:</a:t>
            </a:r>
          </a:p>
          <a:p>
            <a:r>
              <a:rPr lang="en-US" altLang="en-US" sz="1600" dirty="0">
                <a:latin typeface="Times New Roman" panose="02020603050405020304" charset="0"/>
                <a:cs typeface="Times New Roman" panose="02020603050405020304" charset="0"/>
              </a:rPr>
              <a:t>Doctors prescribe medicines to patients, and the pharmacy must maintain these records. This module stores prescription details such as patient name, doctor name, and prescribed medicines.</a:t>
            </a:r>
          </a:p>
          <a:p>
            <a:r>
              <a:rPr lang="en-US" altLang="en-US" sz="1600" b="1" dirty="0">
                <a:latin typeface="Times New Roman" panose="02020603050405020304" charset="0"/>
                <a:cs typeface="Times New Roman" panose="02020603050405020304" charset="0"/>
              </a:rPr>
              <a:t>Functions:</a:t>
            </a:r>
          </a:p>
          <a:p>
            <a:pPr>
              <a:buFont typeface="Arial" panose="020B0604020202020204" pitchFamily="34" charset="0"/>
              <a:buChar char="•"/>
            </a:pPr>
            <a:r>
              <a:rPr lang="en-US" altLang="en-US" sz="1600" dirty="0">
                <a:latin typeface="Times New Roman" panose="02020603050405020304" charset="0"/>
                <a:cs typeface="Times New Roman" panose="02020603050405020304" charset="0"/>
              </a:rPr>
              <a:t>Record prescription details</a:t>
            </a:r>
          </a:p>
          <a:p>
            <a:pPr>
              <a:buFont typeface="Arial" panose="020B0604020202020204" pitchFamily="34" charset="0"/>
              <a:buChar char="•"/>
            </a:pPr>
            <a:r>
              <a:rPr lang="en-US" altLang="en-US" sz="1600" dirty="0">
                <a:latin typeface="Times New Roman" panose="02020603050405020304" charset="0"/>
                <a:cs typeface="Times New Roman" panose="02020603050405020304" charset="0"/>
              </a:rPr>
              <a:t>Store patient and doctor information</a:t>
            </a:r>
          </a:p>
          <a:p>
            <a:pPr>
              <a:buFont typeface="Arial" panose="020B0604020202020204" pitchFamily="34" charset="0"/>
              <a:buChar char="•"/>
            </a:pPr>
            <a:r>
              <a:rPr lang="en-US" altLang="en-US" sz="1600" dirty="0">
                <a:latin typeface="Times New Roman" panose="02020603050405020304" charset="0"/>
                <a:cs typeface="Times New Roman" panose="02020603050405020304" charset="0"/>
              </a:rPr>
              <a:t>Verify prescribed medicines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Sales and Billing Module</a:t>
            </a:r>
          </a:p>
        </p:txBody>
      </p:sp>
      <p:sp>
        <p:nvSpPr>
          <p:cNvPr id="3" name="Content Placeholder 2"/>
          <p:cNvSpPr>
            <a:spLocks noGrp="1"/>
          </p:cNvSpPr>
          <p:nvPr>
            <p:ph idx="1"/>
          </p:nvPr>
        </p:nvSpPr>
        <p:spPr/>
        <p:txBody>
          <a:bodyPr>
            <a:normAutofit/>
          </a:bodyPr>
          <a:lstStyle/>
          <a:p>
            <a:r>
              <a:rPr lang="en-US" altLang="en-US" sz="1600" b="1" dirty="0"/>
              <a:t>Purpose:</a:t>
            </a:r>
          </a:p>
          <a:p>
            <a:r>
              <a:rPr lang="en-US" altLang="en-US" sz="1600" dirty="0"/>
              <a:t>This module handles the selling of medicines and billing process.</a:t>
            </a:r>
          </a:p>
          <a:p>
            <a:r>
              <a:rPr lang="en-US" altLang="en-US" sz="1600" b="1" dirty="0"/>
              <a:t>Explanation:</a:t>
            </a:r>
          </a:p>
          <a:p>
            <a:r>
              <a:rPr lang="en-US" altLang="en-US" sz="1600" dirty="0"/>
              <a:t>When a customer purchases medicine, the system records the transaction and generates the bill. It also updates the stock quantity in the database.</a:t>
            </a:r>
          </a:p>
          <a:p>
            <a:r>
              <a:rPr lang="en-US" altLang="en-US" sz="1600" b="1" dirty="0"/>
              <a:t>Functions:</a:t>
            </a:r>
          </a:p>
          <a:p>
            <a:pPr>
              <a:buFont typeface="Arial" panose="020B0604020202020204" pitchFamily="34" charset="0"/>
              <a:buChar char="•"/>
            </a:pPr>
            <a:r>
              <a:rPr lang="en-US" altLang="en-US" sz="1600" dirty="0"/>
              <a:t> Record medicine sales</a:t>
            </a:r>
          </a:p>
          <a:p>
            <a:pPr>
              <a:buFont typeface="Arial" panose="020B0604020202020204" pitchFamily="34" charset="0"/>
              <a:buChar char="•"/>
            </a:pPr>
            <a:r>
              <a:rPr lang="en-US" altLang="en-US" sz="1600" dirty="0"/>
              <a:t>Calculate total price</a:t>
            </a:r>
          </a:p>
          <a:p>
            <a:pPr>
              <a:buFont typeface="Arial" panose="020B0604020202020204" pitchFamily="34" charset="0"/>
              <a:buChar char="•"/>
            </a:pPr>
            <a:r>
              <a:rPr lang="en-US" altLang="en-US" sz="1600" dirty="0"/>
              <a:t>Generate billing information</a:t>
            </a:r>
          </a:p>
          <a:p>
            <a:pPr>
              <a:buFont typeface="Arial" panose="020B0604020202020204" pitchFamily="34" charset="0"/>
              <a:buChar char="•"/>
            </a:pPr>
            <a:r>
              <a:rPr lang="en-US" altLang="en-US" sz="1600" dirty="0"/>
              <a:t>Update medicine stock after sale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2A1BA-47B5-7D52-4B95-0229E7288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963DB-B443-2FFF-CBA7-8CB241BD2F1F}"/>
              </a:ext>
            </a:extLst>
          </p:cNvPr>
          <p:cNvSpPr>
            <a:spLocks noGrp="1"/>
          </p:cNvSpPr>
          <p:nvPr>
            <p:ph type="title"/>
          </p:nvPr>
        </p:nvSpPr>
        <p:spPr/>
        <p:txBody>
          <a:bodyPr/>
          <a:lstStyle/>
          <a:p>
            <a:r>
              <a:rPr lang="en-US" altLang="en-US" dirty="0"/>
              <a:t>Customer Module</a:t>
            </a:r>
          </a:p>
        </p:txBody>
      </p:sp>
      <p:sp>
        <p:nvSpPr>
          <p:cNvPr id="3" name="Content Placeholder 2">
            <a:extLst>
              <a:ext uri="{FF2B5EF4-FFF2-40B4-BE49-F238E27FC236}">
                <a16:creationId xmlns:a16="http://schemas.microsoft.com/office/drawing/2014/main" id="{DA8377DE-3C27-754D-2F1F-2D8D22D30993}"/>
              </a:ext>
            </a:extLst>
          </p:cNvPr>
          <p:cNvSpPr>
            <a:spLocks noGrp="1"/>
          </p:cNvSpPr>
          <p:nvPr>
            <p:ph idx="1"/>
          </p:nvPr>
        </p:nvSpPr>
        <p:spPr/>
        <p:txBody>
          <a:bodyPr>
            <a:normAutofit/>
          </a:bodyPr>
          <a:lstStyle/>
          <a:p>
            <a:r>
              <a:rPr lang="en-US" sz="1600" b="1" dirty="0"/>
              <a:t>Purpose:</a:t>
            </a:r>
            <a:br>
              <a:rPr lang="en-US" sz="1600" dirty="0"/>
            </a:br>
            <a:r>
              <a:rPr lang="en-US" sz="1600" dirty="0"/>
              <a:t>This module manages customer information and maintains records of all customers in the system.</a:t>
            </a:r>
          </a:p>
          <a:p>
            <a:r>
              <a:rPr lang="en-US" sz="1600" b="1" dirty="0"/>
              <a:t>Explanation:</a:t>
            </a:r>
            <a:br>
              <a:rPr lang="en-US" sz="1600" dirty="0"/>
            </a:br>
            <a:r>
              <a:rPr lang="en-US" sz="1600" dirty="0"/>
              <a:t>When a new customer interacts with the system, their details are recorded and stored in the database. The module helps in retrieving, updating, and managing customer data efficiently. It also supports linking customer details with their purchase history for better tracking and service.</a:t>
            </a:r>
          </a:p>
          <a:p>
            <a:r>
              <a:rPr lang="en-US" sz="1600" b="1" dirty="0"/>
              <a:t>Functions:</a:t>
            </a:r>
            <a:endParaRPr lang="en-US" sz="1600" dirty="0"/>
          </a:p>
          <a:p>
            <a:r>
              <a:rPr lang="en-US" sz="1600" dirty="0"/>
              <a:t>Add new customer details </a:t>
            </a:r>
          </a:p>
          <a:p>
            <a:r>
              <a:rPr lang="en-US" sz="1600" dirty="0"/>
              <a:t>Update existing customer information </a:t>
            </a:r>
          </a:p>
          <a:p>
            <a:r>
              <a:rPr lang="en-US" sz="1600" dirty="0"/>
              <a:t>View customer records </a:t>
            </a:r>
          </a:p>
          <a:p>
            <a:r>
              <a:rPr lang="en-US" sz="1600" dirty="0"/>
              <a:t>Delete customer data if necessary </a:t>
            </a:r>
          </a:p>
          <a:p>
            <a:r>
              <a:rPr lang="en-US" sz="1600" dirty="0"/>
              <a:t>Track customer purchase history</a:t>
            </a:r>
          </a:p>
          <a:p>
            <a:pPr>
              <a:buFont typeface="Arial" panose="020B0604020202020204" pitchFamily="34" charset="0"/>
              <a:buChar char="•"/>
            </a:pPr>
            <a:endParaRPr lang="en-US" altLang="en-US" sz="1600" dirty="0"/>
          </a:p>
        </p:txBody>
      </p:sp>
    </p:spTree>
    <p:extLst>
      <p:ext uri="{BB962C8B-B14F-4D97-AF65-F5344CB8AC3E}">
        <p14:creationId xmlns:p14="http://schemas.microsoft.com/office/powerpoint/2010/main" val="1512402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Challenges Faced</a:t>
            </a:r>
          </a:p>
        </p:txBody>
      </p:sp>
      <p:sp>
        <p:nvSpPr>
          <p:cNvPr id="3" name="Content Placeholder 2"/>
          <p:cNvSpPr>
            <a:spLocks noGrp="1"/>
          </p:cNvSpPr>
          <p:nvPr>
            <p:ph idx="1"/>
          </p:nvPr>
        </p:nvSpPr>
        <p:spPr/>
        <p:txBody>
          <a:bodyPr>
            <a:normAutofit/>
          </a:bodyPr>
          <a:lstStyle/>
          <a:p>
            <a:pPr>
              <a:lnSpc>
                <a:spcPct val="100000"/>
              </a:lnSpc>
              <a:buFont typeface="Wingdings" panose="05000000000000000000" charset="0"/>
              <a:buChar char="v"/>
            </a:pPr>
            <a:r>
              <a:rPr lang="en-US" altLang="en-US" sz="1780"/>
              <a:t>Designing a proper database structure for medicines, suppliers, prescriptions, and sales.</a:t>
            </a:r>
          </a:p>
          <a:p>
            <a:pPr>
              <a:lnSpc>
                <a:spcPct val="100000"/>
              </a:lnSpc>
              <a:buFont typeface="Wingdings" panose="05000000000000000000" charset="0"/>
              <a:buChar char="v"/>
            </a:pPr>
            <a:endParaRPr lang="en-US" altLang="en-US" sz="1780"/>
          </a:p>
          <a:p>
            <a:pPr>
              <a:lnSpc>
                <a:spcPct val="100000"/>
              </a:lnSpc>
              <a:buFont typeface="Wingdings" panose="05000000000000000000" charset="0"/>
              <a:buChar char="v"/>
            </a:pPr>
            <a:r>
              <a:rPr lang="en-US" altLang="en-US" sz="1780"/>
              <a:t>Maintaining data integrity and avoiding duplicate records.</a:t>
            </a:r>
          </a:p>
          <a:p>
            <a:pPr>
              <a:lnSpc>
                <a:spcPct val="100000"/>
              </a:lnSpc>
              <a:buFont typeface="Wingdings" panose="05000000000000000000" charset="0"/>
              <a:buChar char="v"/>
            </a:pPr>
            <a:endParaRPr lang="en-US" altLang="en-US" sz="1780"/>
          </a:p>
          <a:p>
            <a:pPr>
              <a:lnSpc>
                <a:spcPct val="100000"/>
              </a:lnSpc>
              <a:buFont typeface="Wingdings" panose="05000000000000000000" charset="0"/>
              <a:buChar char="v"/>
            </a:pPr>
            <a:r>
              <a:rPr lang="en-US" altLang="en-US" sz="1780"/>
              <a:t>Applying database normalization to reduce redundancy.</a:t>
            </a:r>
          </a:p>
          <a:p>
            <a:pPr>
              <a:lnSpc>
                <a:spcPct val="100000"/>
              </a:lnSpc>
              <a:buFont typeface="Wingdings" panose="05000000000000000000" charset="0"/>
              <a:buChar char="v"/>
            </a:pPr>
            <a:endParaRPr lang="en-US" altLang="en-US" sz="1780"/>
          </a:p>
          <a:p>
            <a:pPr>
              <a:lnSpc>
                <a:spcPct val="100000"/>
              </a:lnSpc>
              <a:buFont typeface="Wingdings" panose="05000000000000000000" charset="0"/>
              <a:buChar char="v"/>
            </a:pPr>
            <a:r>
              <a:rPr lang="en-US" altLang="en-US" sz="1780"/>
              <a:t>Managing relationships between tables using primary and foreign keys.</a:t>
            </a:r>
          </a:p>
          <a:p>
            <a:pPr>
              <a:lnSpc>
                <a:spcPct val="100000"/>
              </a:lnSpc>
              <a:buFont typeface="Wingdings" panose="05000000000000000000" charset="0"/>
              <a:buChar char="v"/>
            </a:pPr>
            <a:endParaRPr lang="en-US" altLang="en-US" sz="1780"/>
          </a:p>
          <a:p>
            <a:pPr>
              <a:lnSpc>
                <a:spcPct val="100000"/>
              </a:lnSpc>
              <a:buFont typeface="Wingdings" panose="05000000000000000000" charset="0"/>
              <a:buChar char="v"/>
            </a:pPr>
            <a:r>
              <a:rPr lang="en-US" altLang="en-US" sz="1780"/>
              <a:t>Writing accurate SQL queries for data insertion, updating, and retrieval.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a:lstStyle/>
          <a:p>
            <a:pPr>
              <a:lnSpc>
                <a:spcPct val="100000"/>
              </a:lnSpc>
              <a:buFont typeface="Wingdings" panose="05000000000000000000" charset="0"/>
              <a:buChar char="v"/>
            </a:pPr>
            <a:r>
              <a:rPr lang="en-US" altLang="en-US">
                <a:sym typeface="+mn-ea"/>
              </a:rPr>
              <a:t>The system efficiently manages medicine inventory, suppliers, prescriptions, and sales data in a structured way.</a:t>
            </a:r>
            <a:endParaRPr lang="en-US" altLang="en-US"/>
          </a:p>
          <a:p>
            <a:pPr>
              <a:lnSpc>
                <a:spcPct val="100000"/>
              </a:lnSpc>
              <a:buFont typeface="Wingdings" panose="05000000000000000000" charset="0"/>
              <a:buChar char="v"/>
            </a:pPr>
            <a:r>
              <a:rPr lang="en-US" altLang="en-US">
                <a:sym typeface="+mn-ea"/>
              </a:rPr>
              <a:t>A normalized database reduces redundancy and ensures data consistency.</a:t>
            </a:r>
            <a:endParaRPr lang="en-US" altLang="en-US"/>
          </a:p>
          <a:p>
            <a:pPr>
              <a:lnSpc>
                <a:spcPct val="100000"/>
              </a:lnSpc>
              <a:buFont typeface="Wingdings" panose="05000000000000000000" charset="0"/>
              <a:buChar char="v"/>
            </a:pPr>
            <a:r>
              <a:rPr lang="en-US" altLang="en-US">
                <a:sym typeface="+mn-ea"/>
              </a:rPr>
              <a:t>It improves the accuracy of pharmacy operations.</a:t>
            </a:r>
            <a:endParaRPr lang="en-US" altLang="en-US"/>
          </a:p>
          <a:p>
            <a:pPr>
              <a:lnSpc>
                <a:spcPct val="100000"/>
              </a:lnSpc>
              <a:buFont typeface="Wingdings" panose="05000000000000000000" charset="0"/>
              <a:buChar char="v"/>
            </a:pPr>
            <a:r>
              <a:rPr lang="en-US" altLang="en-US">
                <a:sym typeface="+mn-ea"/>
              </a:rPr>
              <a:t>Enables reliable stock tracking and efficient billing.</a:t>
            </a:r>
            <a:endParaRPr lang="en-US" altLang="en-US"/>
          </a:p>
          <a:p>
            <a:pPr>
              <a:lnSpc>
                <a:spcPct val="100000"/>
              </a:lnSpc>
              <a:buFont typeface="Wingdings" panose="05000000000000000000" charset="0"/>
              <a:buChar char="v"/>
            </a:pPr>
            <a:r>
              <a:rPr lang="en-US" altLang="en-US">
                <a:sym typeface="+mn-ea"/>
              </a:rPr>
              <a:t>Minimizes manual errors and operational difficulties.</a:t>
            </a:r>
            <a:endParaRPr lang="en-US" altLang="en-US"/>
          </a:p>
          <a:p>
            <a:pPr>
              <a:lnSpc>
                <a:spcPct val="100000"/>
              </a:lnSpc>
              <a:buFont typeface="Wingdings" panose="05000000000000000000" charset="0"/>
              <a:buChar char="v"/>
            </a:pPr>
            <a:r>
              <a:rPr lang="en-US" altLang="en-US">
                <a:sym typeface="+mn-ea"/>
              </a:rPr>
              <a:t>Enhances productivity and supports informed decision-making.</a:t>
            </a:r>
            <a:endParaRPr lang="en-US" altLang="en-US"/>
          </a:p>
          <a:p>
            <a:pPr>
              <a:lnSpc>
                <a:spcPct val="100000"/>
              </a:lnSpc>
              <a:buFont typeface="Wingdings" panose="05000000000000000000" charset="0"/>
              <a:buChar char="v"/>
            </a:pPr>
            <a:r>
              <a:rPr lang="en-US" altLang="en-US">
                <a:sym typeface="+mn-ea"/>
              </a:rPr>
              <a:t>Ensures safe and effective management of pharmacy information.</a:t>
            </a:r>
            <a:endParaRPr lang="en-US" altLang="en-US"/>
          </a:p>
          <a:p>
            <a:endParaRPr lang="en-IN"/>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
  <TotalTime>832</TotalTime>
  <Words>1140</Words>
  <Application>Microsoft Office PowerPoint</Application>
  <PresentationFormat>Widescreen</PresentationFormat>
  <Paragraphs>144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Wingdings</vt:lpstr>
      <vt:lpstr>Retrospect</vt:lpstr>
      <vt:lpstr>PHARMACY MANAGEMENT SYSTEM</vt:lpstr>
      <vt:lpstr>Problem Statement</vt:lpstr>
      <vt:lpstr>Objectives of the Project</vt:lpstr>
      <vt:lpstr>System Requirements</vt:lpstr>
      <vt:lpstr>System Architecture</vt:lpstr>
      <vt:lpstr>ER Diagram</vt:lpstr>
      <vt:lpstr>Relational Schema</vt:lpstr>
      <vt:lpstr>Normalization</vt:lpstr>
      <vt:lpstr>Database and Table Creation</vt:lpstr>
      <vt:lpstr>SQL Implementation &amp; Queries</vt:lpstr>
      <vt:lpstr>SQL Implementation &amp; Queries</vt:lpstr>
      <vt:lpstr>SQL Implementation &amp; Queries</vt:lpstr>
      <vt:lpstr>Medicine Management Module </vt:lpstr>
      <vt:lpstr>Supplier Management Module</vt:lpstr>
      <vt:lpstr>Prescription Management Module</vt:lpstr>
      <vt:lpstr>Sales and Billing Module</vt:lpstr>
      <vt:lpstr>Customer Module</vt:lpstr>
      <vt:lpstr>Challenges Faced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Malarmannan</dc:creator>
  <cp:lastModifiedBy>Lathika Chidambaram</cp:lastModifiedBy>
  <cp:revision>4</cp:revision>
  <dcterms:created xsi:type="dcterms:W3CDTF">2026-02-07T14:22:29Z</dcterms:created>
  <dcterms:modified xsi:type="dcterms:W3CDTF">2026-04-22T09:01:41Z</dcterms:modified>
</cp:coreProperties>
</file>